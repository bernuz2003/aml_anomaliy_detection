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
      <p:font typeface="Lobster"/>
      <p:regular r:id="rId30"/>
    </p:embeddedFont>
    <p:embeddedFont>
      <p:font typeface="EB Garamond"/>
      <p:regular r:id="rId31"/>
      <p:bold r:id="rId32"/>
      <p:italic r:id="rId33"/>
      <p:boldItalic r:id="rId34"/>
    </p:embeddedFont>
    <p:embeddedFont>
      <p:font typeface="Roboto Light"/>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5.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BGaramond-regular.fntdata"/><Relationship Id="rId30" Type="http://schemas.openxmlformats.org/officeDocument/2006/relationships/font" Target="fonts/Lobster-regular.fntdata"/><Relationship Id="rId11" Type="http://schemas.openxmlformats.org/officeDocument/2006/relationships/slide" Target="slides/slide6.xml"/><Relationship Id="rId33" Type="http://schemas.openxmlformats.org/officeDocument/2006/relationships/font" Target="fonts/EBGaramond-italic.fntdata"/><Relationship Id="rId10" Type="http://schemas.openxmlformats.org/officeDocument/2006/relationships/slide" Target="slides/slide5.xml"/><Relationship Id="rId32" Type="http://schemas.openxmlformats.org/officeDocument/2006/relationships/font" Target="fonts/EBGaramond-bold.fntdata"/><Relationship Id="rId13" Type="http://schemas.openxmlformats.org/officeDocument/2006/relationships/slide" Target="slides/slide8.xml"/><Relationship Id="rId35" Type="http://schemas.openxmlformats.org/officeDocument/2006/relationships/font" Target="fonts/RobotoLight-regular.fntdata"/><Relationship Id="rId12" Type="http://schemas.openxmlformats.org/officeDocument/2006/relationships/slide" Target="slides/slide7.xml"/><Relationship Id="rId34" Type="http://schemas.openxmlformats.org/officeDocument/2006/relationships/font" Target="fonts/EBGaramond-boldItalic.fntdata"/><Relationship Id="rId15" Type="http://schemas.openxmlformats.org/officeDocument/2006/relationships/slide" Target="slides/slide10.xml"/><Relationship Id="rId37" Type="http://schemas.openxmlformats.org/officeDocument/2006/relationships/font" Target="fonts/RobotoLight-italic.fntdata"/><Relationship Id="rId14" Type="http://schemas.openxmlformats.org/officeDocument/2006/relationships/slide" Target="slides/slide9.xml"/><Relationship Id="rId36" Type="http://schemas.openxmlformats.org/officeDocument/2006/relationships/font" Target="fonts/RobotoLight-bold.fntdata"/><Relationship Id="rId17" Type="http://schemas.openxmlformats.org/officeDocument/2006/relationships/slide" Target="slides/slide12.xml"/><Relationship Id="rId39" Type="http://schemas.openxmlformats.org/officeDocument/2006/relationships/font" Target="fonts/Merriweather-regular.fntdata"/><Relationship Id="rId16" Type="http://schemas.openxmlformats.org/officeDocument/2006/relationships/slide" Target="slides/slide11.xml"/><Relationship Id="rId38" Type="http://schemas.openxmlformats.org/officeDocument/2006/relationships/font" Target="fonts/RobotoLigh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etrics.py"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d22f5b9d5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d22f5b9d5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rgbClr val="303030"/>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4310d26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4310d26e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050">
                <a:solidFill>
                  <a:srgbClr val="303030"/>
                </a:solidFill>
                <a:highlight>
                  <a:srgbClr val="FFFFFF"/>
                </a:highlight>
              </a:rPr>
              <a:t>Good morning, I'm Fabio and I will walk you through the methodology we adopted for this project, starting from data management up to the evaluation protocol.</a:t>
            </a:r>
            <a:endParaRPr sz="1050">
              <a:solidFill>
                <a:srgbClr val="303030"/>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4310d26ee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4310d26ee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Let’s move to our preprocessing pipeline, which consists in four strict steps.</a:t>
            </a:r>
            <a:endParaRPr/>
          </a:p>
          <a:p>
            <a:pPr indent="0" lvl="0" marL="0" rtl="0" algn="l">
              <a:spcBef>
                <a:spcPts val="0"/>
              </a:spcBef>
              <a:spcAft>
                <a:spcPts val="0"/>
              </a:spcAft>
              <a:buClr>
                <a:schemeClr val="dk1"/>
              </a:buClr>
              <a:buSzPts val="1100"/>
              <a:buFont typeface="Arial"/>
              <a:buNone/>
            </a:pPr>
            <a:r>
              <a:rPr lang="it"/>
              <a:t>Step one focused on cleaning missing values. </a:t>
            </a:r>
            <a:endParaRPr/>
          </a:p>
          <a:p>
            <a:pPr indent="0" lvl="0" marL="0" rtl="0" algn="l">
              <a:spcBef>
                <a:spcPts val="0"/>
              </a:spcBef>
              <a:spcAft>
                <a:spcPts val="0"/>
              </a:spcAft>
              <a:buClr>
                <a:schemeClr val="dk1"/>
              </a:buClr>
              <a:buSzPts val="1100"/>
              <a:buFont typeface="Arial"/>
              <a:buNone/>
            </a:pPr>
            <a:r>
              <a:rPr lang="it"/>
              <a:t>We applied linear interpolation strictly within each individual run and by using forward and backward filling we were able to resolve any remaining missing values at the edges.</a:t>
            </a:r>
            <a:endParaRPr/>
          </a:p>
          <a:p>
            <a:pPr indent="0" lvl="0" marL="0" rtl="0" algn="l">
              <a:spcBef>
                <a:spcPts val="0"/>
              </a:spcBef>
              <a:spcAft>
                <a:spcPts val="0"/>
              </a:spcAft>
              <a:buClr>
                <a:schemeClr val="dk1"/>
              </a:buClr>
              <a:buSzPts val="1100"/>
              <a:buFont typeface="Arial"/>
              <a:buNone/>
            </a:pPr>
            <a:r>
              <a:rPr lang="it"/>
              <a:t>Step two is the data split. </a:t>
            </a:r>
            <a:endParaRPr/>
          </a:p>
          <a:p>
            <a:pPr indent="0" lvl="0" marL="0" rtl="0" algn="l">
              <a:spcBef>
                <a:spcPts val="0"/>
              </a:spcBef>
              <a:spcAft>
                <a:spcPts val="0"/>
              </a:spcAft>
              <a:buClr>
                <a:schemeClr val="dk1"/>
              </a:buClr>
              <a:buSzPts val="1100"/>
              <a:buFont typeface="Arial"/>
              <a:buNone/>
            </a:pPr>
            <a:r>
              <a:rPr lang="it"/>
              <a:t>We performed the split strictly at the run level. This is a critical detail because it completely avoids data leakage. Indeed, by doing so, we're ensuring that two overlapping or temporarlly adjacent window from the same action cannot appear in both training and testing. Lastly, as it can be noticed we have used 60% of the dataset for the training set and the 20% for both validation and test sets.</a:t>
            </a:r>
            <a:endParaRPr/>
          </a:p>
          <a:p>
            <a:pPr indent="0" lvl="0" marL="0" rtl="0" algn="l">
              <a:spcBef>
                <a:spcPts val="0"/>
              </a:spcBef>
              <a:spcAft>
                <a:spcPts val="0"/>
              </a:spcAft>
              <a:buClr>
                <a:schemeClr val="dk1"/>
              </a:buClr>
              <a:buSzPts val="1100"/>
              <a:buFont typeface="Arial"/>
              <a:buNone/>
            </a:pPr>
            <a:r>
              <a:rPr lang="it"/>
              <a:t>Step three involved feature scaling. </a:t>
            </a:r>
            <a:endParaRPr/>
          </a:p>
          <a:p>
            <a:pPr indent="0" lvl="0" marL="0" rtl="0" algn="l">
              <a:spcBef>
                <a:spcPts val="0"/>
              </a:spcBef>
              <a:spcAft>
                <a:spcPts val="0"/>
              </a:spcAft>
              <a:buClr>
                <a:schemeClr val="dk1"/>
              </a:buClr>
              <a:buSzPts val="1100"/>
              <a:buFont typeface="Arial"/>
              <a:buNone/>
            </a:pPr>
            <a:r>
              <a:rPr lang="it"/>
              <a:t>Here we used StandardScaler as our primary protocol, fitting it only on the normal training data to preserve the integrity of our evaluation.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51f2c715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51f2c715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Let’s move to our preprocessing pipeline, which consists in four strict steps.</a:t>
            </a:r>
            <a:endParaRPr/>
          </a:p>
          <a:p>
            <a:pPr indent="0" lvl="0" marL="0" rtl="0" algn="l">
              <a:spcBef>
                <a:spcPts val="0"/>
              </a:spcBef>
              <a:spcAft>
                <a:spcPts val="0"/>
              </a:spcAft>
              <a:buClr>
                <a:schemeClr val="dk1"/>
              </a:buClr>
              <a:buSzPts val="1100"/>
              <a:buFont typeface="Arial"/>
              <a:buNone/>
            </a:pPr>
            <a:r>
              <a:rPr lang="it"/>
              <a:t>Step one focused on cleaning missing values. </a:t>
            </a:r>
            <a:endParaRPr/>
          </a:p>
          <a:p>
            <a:pPr indent="0" lvl="0" marL="0" rtl="0" algn="l">
              <a:spcBef>
                <a:spcPts val="0"/>
              </a:spcBef>
              <a:spcAft>
                <a:spcPts val="0"/>
              </a:spcAft>
              <a:buClr>
                <a:schemeClr val="dk1"/>
              </a:buClr>
              <a:buSzPts val="1100"/>
              <a:buFont typeface="Arial"/>
              <a:buNone/>
            </a:pPr>
            <a:r>
              <a:rPr lang="it"/>
              <a:t>We applied linear interpolation strictly within each individual run and by using forward and backward filling we were able to resolve any remaining missing values at the edges.</a:t>
            </a:r>
            <a:endParaRPr/>
          </a:p>
          <a:p>
            <a:pPr indent="0" lvl="0" marL="0" rtl="0" algn="l">
              <a:spcBef>
                <a:spcPts val="0"/>
              </a:spcBef>
              <a:spcAft>
                <a:spcPts val="0"/>
              </a:spcAft>
              <a:buClr>
                <a:schemeClr val="dk1"/>
              </a:buClr>
              <a:buSzPts val="1100"/>
              <a:buFont typeface="Arial"/>
              <a:buNone/>
            </a:pPr>
            <a:r>
              <a:rPr lang="it"/>
              <a:t>Step two is the data split. </a:t>
            </a:r>
            <a:endParaRPr/>
          </a:p>
          <a:p>
            <a:pPr indent="0" lvl="0" marL="0" rtl="0" algn="l">
              <a:spcBef>
                <a:spcPts val="0"/>
              </a:spcBef>
              <a:spcAft>
                <a:spcPts val="0"/>
              </a:spcAft>
              <a:buClr>
                <a:schemeClr val="dk1"/>
              </a:buClr>
              <a:buSzPts val="1100"/>
              <a:buFont typeface="Arial"/>
              <a:buNone/>
            </a:pPr>
            <a:r>
              <a:rPr lang="it"/>
              <a:t>We performed the split strictly at the run level. This is a critical detail because it completely avoids data leakage. Indeed, by doing so, we're ensuring that two overlapping or temporarlly adjacent window from the same action cannot appear in both training and testing. Lastly, as it can be noticed we have used 60% of the dataset for the training set and the 20% for both validation and test sets.</a:t>
            </a:r>
            <a:endParaRPr/>
          </a:p>
          <a:p>
            <a:pPr indent="0" lvl="0" marL="0" rtl="0" algn="l">
              <a:spcBef>
                <a:spcPts val="0"/>
              </a:spcBef>
              <a:spcAft>
                <a:spcPts val="0"/>
              </a:spcAft>
              <a:buClr>
                <a:schemeClr val="dk1"/>
              </a:buClr>
              <a:buSzPts val="1100"/>
              <a:buFont typeface="Arial"/>
              <a:buNone/>
            </a:pPr>
            <a:r>
              <a:rPr lang="it"/>
              <a:t>Step three involved feature scaling. </a:t>
            </a:r>
            <a:endParaRPr/>
          </a:p>
          <a:p>
            <a:pPr indent="0" lvl="0" marL="0" rtl="0" algn="l">
              <a:spcBef>
                <a:spcPts val="0"/>
              </a:spcBef>
              <a:spcAft>
                <a:spcPts val="0"/>
              </a:spcAft>
              <a:buClr>
                <a:schemeClr val="dk1"/>
              </a:buClr>
              <a:buSzPts val="1100"/>
              <a:buFont typeface="Arial"/>
              <a:buNone/>
            </a:pPr>
            <a:r>
              <a:rPr lang="it"/>
              <a:t>Here we used StandardScaler as our primary protocol, fitting it only on the normal training data to preserve the integrity of our evaluation.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4310d26e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4310d26e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Finally the fourth step: Window Management.</a:t>
            </a:r>
            <a:endParaRPr/>
          </a:p>
          <a:p>
            <a:pPr indent="0" lvl="0" marL="0" rtl="0" algn="l">
              <a:spcBef>
                <a:spcPts val="0"/>
              </a:spcBef>
              <a:spcAft>
                <a:spcPts val="0"/>
              </a:spcAft>
              <a:buClr>
                <a:schemeClr val="dk1"/>
              </a:buClr>
              <a:buSzPts val="1100"/>
              <a:buFont typeface="Arial"/>
              <a:buNone/>
            </a:pPr>
            <a:r>
              <a:rPr lang="it"/>
              <a:t>To capture temporal dynamics, we extracted temporal windows with a length of 64 timesteps and a stride of 16. Then According to our labeling strategy, a window is classified as anomalous if at least 10% of its internal timesteps represent anomalous behavior.</a:t>
            </a:r>
            <a:endParaRPr/>
          </a:p>
          <a:p>
            <a:pPr indent="0" lvl="0" marL="0" rtl="0" algn="l">
              <a:spcBef>
                <a:spcPts val="0"/>
              </a:spcBef>
              <a:spcAft>
                <a:spcPts val="0"/>
              </a:spcAft>
              <a:buClr>
                <a:schemeClr val="dk1"/>
              </a:buClr>
              <a:buSzPts val="1100"/>
              <a:buFont typeface="Arial"/>
              <a:buNone/>
            </a:pPr>
            <a:r>
              <a:rPr lang="it"/>
              <a:t>In conclusion, the table here summarizes the final distribution of our data across the splits, maintaining a consistent anomaly proportion of around 20% in both the validation and test sets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Per la stessa proporzione nel codice abbiamo usato il flag stratify by level che sta in src\am01\data\windowing.py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4310d26ee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4310d26ee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Then, with the data prepared, we evaluated five different models.</a:t>
            </a:r>
            <a:endParaRPr/>
          </a:p>
          <a:p>
            <a:pPr indent="0" lvl="0" marL="0" rtl="0" algn="l">
              <a:spcBef>
                <a:spcPts val="0"/>
              </a:spcBef>
              <a:spcAft>
                <a:spcPts val="0"/>
              </a:spcAft>
              <a:buClr>
                <a:schemeClr val="dk1"/>
              </a:buClr>
              <a:buSzPts val="1100"/>
              <a:buFont typeface="Arial"/>
              <a:buNone/>
            </a:pPr>
            <a:r>
              <a:rPr lang="it"/>
              <a:t>First, a baseline based on PCA, where we flattened the windows while retaining the 95% of the variance.</a:t>
            </a:r>
            <a:endParaRPr/>
          </a:p>
          <a:p>
            <a:pPr indent="0" lvl="0" marL="0" rtl="0" algn="l">
              <a:spcBef>
                <a:spcPts val="0"/>
              </a:spcBef>
              <a:spcAft>
                <a:spcPts val="0"/>
              </a:spcAft>
              <a:buClr>
                <a:schemeClr val="dk1"/>
              </a:buClr>
              <a:buSzPts val="1100"/>
              <a:buFont typeface="Arial"/>
              <a:buNone/>
            </a:pPr>
            <a:r>
              <a:rPr lang="it"/>
              <a:t>Second, the Isolation Forest, a non-neural classical anomaly detector. </a:t>
            </a:r>
            <a:endParaRPr/>
          </a:p>
          <a:p>
            <a:pPr indent="0" lvl="0" marL="0" rtl="0" algn="l">
              <a:spcBef>
                <a:spcPts val="0"/>
              </a:spcBef>
              <a:spcAft>
                <a:spcPts val="0"/>
              </a:spcAft>
              <a:buClr>
                <a:schemeClr val="dk1"/>
              </a:buClr>
              <a:buSzPts val="1100"/>
              <a:buFont typeface="Arial"/>
              <a:buNone/>
            </a:pPr>
            <a:r>
              <a:rPr lang="it"/>
              <a:t>Here, to have a more macroscopical approach we extracted 7 statistical features per window resulting in 595 statistical features.</a:t>
            </a:r>
            <a:endParaRPr/>
          </a:p>
          <a:p>
            <a:pPr indent="0" lvl="0" marL="0" rtl="0" algn="l">
              <a:spcBef>
                <a:spcPts val="0"/>
              </a:spcBef>
              <a:spcAft>
                <a:spcPts val="0"/>
              </a:spcAft>
              <a:buClr>
                <a:schemeClr val="dk1"/>
              </a:buClr>
              <a:buSzPts val="1100"/>
              <a:buFont typeface="Arial"/>
              <a:buNone/>
            </a:pPr>
            <a:r>
              <a:rPr lang="it"/>
              <a:t>Next, we evaluated deep neural models, starting with a standard MLP Autoencoder with hidden layers of 256 and 128 units, and a latent dimension bottleneck set to 16.</a:t>
            </a:r>
            <a:endParaRPr/>
          </a:p>
          <a:p>
            <a:pPr indent="0" lvl="0" marL="0" rtl="0" algn="l">
              <a:spcBef>
                <a:spcPts val="0"/>
              </a:spcBef>
              <a:spcAft>
                <a:spcPts val="0"/>
              </a:spcAft>
              <a:buClr>
                <a:schemeClr val="dk1"/>
              </a:buClr>
              <a:buSzPts val="1100"/>
              <a:buFont typeface="Arial"/>
              <a:buNone/>
            </a:pPr>
            <a:r>
              <a:rPr lang="it"/>
              <a:t>We also tested a mono-dimensional convolutional Autoencoder, which arranges the input as channels over time. The idea was to try to preserve the local temporal structures by applying 1D convolutions over the time dimension.</a:t>
            </a:r>
            <a:endParaRPr/>
          </a:p>
          <a:p>
            <a:pPr indent="0" lvl="0" marL="0" rtl="0" algn="l">
              <a:spcBef>
                <a:spcPts val="0"/>
              </a:spcBef>
              <a:spcAft>
                <a:spcPts val="0"/>
              </a:spcAft>
              <a:buClr>
                <a:schemeClr val="dk1"/>
              </a:buClr>
              <a:buSzPts val="1100"/>
              <a:buFont typeface="Arial"/>
              <a:buNone/>
            </a:pPr>
            <a:r>
              <a:rPr lang="it"/>
              <a:t>Finally, the core model of the research: the Adversarial Autoencoder (AAE) MLP. This architecture adds a latent discriminator trained against a standard Gaussian distribution, and training alternates between reconstruction and adversarial updates.</a:t>
            </a:r>
            <a:endParaRPr/>
          </a:p>
          <a:p>
            <a:pPr indent="0" lvl="0" marL="0" rtl="0" algn="l">
              <a:spcBef>
                <a:spcPts val="0"/>
              </a:spcBef>
              <a:spcAft>
                <a:spcPts val="0"/>
              </a:spcAft>
              <a:buClr>
                <a:schemeClr val="dk1"/>
              </a:buClr>
              <a:buSzPts val="1100"/>
              <a:buFont typeface="Arial"/>
              <a:buNone/>
            </a:pPr>
            <a:r>
              <a:rPr lang="it"/>
              <a:t>An important note is that we used the reconstruction error as the anomaly score for all the models except for the isolation forest of course.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4310d26ee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4310d26ee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To conclude my part, let's look at the Training and Evaluation Protocol.</a:t>
            </a:r>
            <a:endParaRPr/>
          </a:p>
          <a:p>
            <a:pPr indent="0" lvl="0" marL="0" rtl="0" algn="l">
              <a:spcBef>
                <a:spcPts val="0"/>
              </a:spcBef>
              <a:spcAft>
                <a:spcPts val="0"/>
              </a:spcAft>
              <a:buClr>
                <a:schemeClr val="dk1"/>
              </a:buClr>
              <a:buSzPts val="1100"/>
              <a:buFont typeface="Arial"/>
              <a:buNone/>
            </a:pPr>
            <a:r>
              <a:rPr lang="it"/>
              <a:t>Regarding the training, the official configuration is the following indicated on the slide.</a:t>
            </a:r>
            <a:endParaRPr/>
          </a:p>
          <a:p>
            <a:pPr indent="0" lvl="0" marL="0" rtl="0" algn="l">
              <a:spcBef>
                <a:spcPts val="0"/>
              </a:spcBef>
              <a:spcAft>
                <a:spcPts val="0"/>
              </a:spcAft>
              <a:buClr>
                <a:schemeClr val="dk1"/>
              </a:buClr>
              <a:buSzPts val="1100"/>
              <a:buFont typeface="Arial"/>
              <a:buNone/>
            </a:pPr>
            <a:r>
              <a:rPr lang="it"/>
              <a:t>Therefore deep models used it and were optimized exclusively using normal sequences from the training set, utilizing validation data for early stopping to prevent overfitting and select the best epochs.</a:t>
            </a:r>
            <a:endParaRPr/>
          </a:p>
          <a:p>
            <a:pPr indent="0" lvl="0" marL="0" rtl="0" algn="l">
              <a:spcBef>
                <a:spcPts val="0"/>
              </a:spcBef>
              <a:spcAft>
                <a:spcPts val="0"/>
              </a:spcAft>
              <a:buClr>
                <a:schemeClr val="dk1"/>
              </a:buClr>
              <a:buSzPts val="1100"/>
              <a:buFont typeface="Arial"/>
              <a:buNone/>
            </a:pPr>
            <a:r>
              <a:rPr lang="it"/>
              <a:t>For validation and metrics, we ranked the models using threshold-free metrics like global ROC-AUC and PR-AUC. Whereas for threshold selection, we calculated the best F1-Score on the validation set, and then applied that threshold to the test set. Finally, we tracked key diagnostics such as precision, recall, false alarms per run, and detection delay.  </a:t>
            </a:r>
            <a:endParaRPr/>
          </a:p>
          <a:p>
            <a:pPr indent="0" lvl="0" marL="0" rtl="0" algn="l">
              <a:spcBef>
                <a:spcPts val="0"/>
              </a:spcBef>
              <a:spcAft>
                <a:spcPts val="0"/>
              </a:spcAft>
              <a:buClr>
                <a:schemeClr val="dk1"/>
              </a:buClr>
              <a:buSzPts val="1100"/>
              <a:buFont typeface="Arial"/>
              <a:buNone/>
            </a:pPr>
            <a:r>
              <a:rPr lang="it"/>
              <a:t>I will now hand over to my colleague Geremia who will explain to you more about our results.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Per le key diagnostic, nel codice sono in src\am01\evaluation\</a:t>
            </a:r>
            <a:r>
              <a:rPr lang="it" u="sng">
                <a:solidFill>
                  <a:schemeClr val="hlink"/>
                </a:solidFill>
                <a:hlinkClick r:id="rId2"/>
              </a:rPr>
              <a:t>metrics.py</a:t>
            </a:r>
            <a:r>
              <a:rPr lang="it"/>
              <a:t>, sarebbe la funzione event metrics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4541d026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4541d026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Good morning, I'm Geremia and I will guide you through the official quantitative results of our project, starting with our baseline benchmark: the </a:t>
            </a:r>
            <a:r>
              <a:rPr b="1" lang="it">
                <a:solidFill>
                  <a:schemeClr val="dk1"/>
                </a:solidFill>
              </a:rPr>
              <a:t>Main MSE Protocol</a:t>
            </a:r>
            <a:r>
              <a:rPr lang="it">
                <a:solidFill>
                  <a:schemeClr val="dk1"/>
                </a:solidFill>
              </a:rPr>
              <a:t>. </a:t>
            </a:r>
            <a:endParaRPr sz="1050">
              <a:solidFill>
                <a:srgbClr val="303030"/>
              </a:solidFill>
              <a:highlight>
                <a:srgbClr val="FFFFFF"/>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4541d026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4541d026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As you can see on this slide, under our official protocol utilizing the standard Mean Squared Error loss, we encountered a highly compelling paradox. A classical, non-parametric statistical model—</a:t>
            </a:r>
            <a:r>
              <a:rPr b="1" lang="it">
                <a:solidFill>
                  <a:schemeClr val="dk1"/>
                </a:solidFill>
              </a:rPr>
              <a:t>Isolation Forest</a:t>
            </a:r>
            <a:r>
              <a:rPr lang="it">
                <a:solidFill>
                  <a:schemeClr val="dk1"/>
                </a:solidFill>
              </a:rPr>
              <a:t>—substantially outperformed our deep learning architectures, anchoring the highest baseline performance with a PR-AUC of </a:t>
            </a:r>
            <a:r>
              <a:rPr b="1" lang="it">
                <a:solidFill>
                  <a:schemeClr val="dk1"/>
                </a:solidFill>
              </a:rPr>
              <a:t>0.7196</a:t>
            </a:r>
            <a:r>
              <a:rPr lang="it">
                <a:solidFill>
                  <a:schemeClr val="dk1"/>
                </a:solidFill>
              </a:rPr>
              <a:t> and an F1-score of 0.7156. </a:t>
            </a:r>
            <a:endParaRPr>
              <a:solidFill>
                <a:schemeClr val="dk1"/>
              </a:solidFill>
            </a:endParaRPr>
          </a:p>
          <a:p>
            <a:pPr indent="0" lvl="0" marL="0" rtl="0" algn="l">
              <a:spcBef>
                <a:spcPts val="0"/>
              </a:spcBef>
              <a:spcAft>
                <a:spcPts val="0"/>
              </a:spcAft>
              <a:buClr>
                <a:schemeClr val="dk1"/>
              </a:buClr>
              <a:buSzPts val="1100"/>
              <a:buFont typeface="Arial"/>
              <a:buNone/>
            </a:pPr>
            <a:br>
              <a:rPr lang="it">
                <a:solidFill>
                  <a:schemeClr val="dk1"/>
                </a:solidFill>
              </a:rPr>
            </a:br>
            <a:r>
              <a:rPr lang="it">
                <a:solidFill>
                  <a:schemeClr val="dk1"/>
                </a:solidFill>
              </a:rPr>
              <a:t>The two neural reconstruction models based on MSE achieved significantly lower PR-AUC, settling around 0.45. This suggests that the anomaly signal in our KUKA dataset is expressed as a relatively separable pattern across channels, which a partition-based ensemble can exploit directly without the need for complex neural reconstructions.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4541d0264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4541d026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Moving on this next slide, let's address the core experiment of this project: the direct comparison between the plain AE and the Adversarial Autoencoder. Both models share the exact same windowing, backbone, and reconstruction loss; the only conceptual difference is the adversarial latent-space regularization. </a:t>
            </a:r>
            <a:endParaRPr>
              <a:solidFill>
                <a:schemeClr val="dk1"/>
              </a:solidFill>
            </a:endParaRPr>
          </a:p>
          <a:p>
            <a:pPr indent="0" lvl="0" marL="0" rtl="0" algn="l">
              <a:spcBef>
                <a:spcPts val="0"/>
              </a:spcBef>
              <a:spcAft>
                <a:spcPts val="0"/>
              </a:spcAft>
              <a:buClr>
                <a:schemeClr val="dk1"/>
              </a:buClr>
              <a:buSzPts val="1100"/>
              <a:buFont typeface="Arial"/>
              <a:buNone/>
            </a:pPr>
            <a:br>
              <a:rPr lang="it">
                <a:solidFill>
                  <a:schemeClr val="dk1"/>
                </a:solidFill>
              </a:rPr>
            </a:br>
            <a:r>
              <a:rPr lang="it">
                <a:solidFill>
                  <a:schemeClr val="dk1"/>
                </a:solidFill>
              </a:rPr>
              <a:t>As summarized in the table, </a:t>
            </a:r>
            <a:r>
              <a:rPr b="1" lang="it">
                <a:solidFill>
                  <a:schemeClr val="dk1"/>
                </a:solidFill>
              </a:rPr>
              <a:t>the AAE did not improve upon the AE</a:t>
            </a:r>
            <a:r>
              <a:rPr lang="it">
                <a:solidFill>
                  <a:schemeClr val="dk1"/>
                </a:solidFill>
              </a:rPr>
              <a:t>. The delta is strictly negative for F1, PR-AUC, and ROC-AUC, and positive for false alarms, meaning the AAE produced </a:t>
            </a:r>
            <a:r>
              <a:rPr i="1" lang="it">
                <a:solidFill>
                  <a:schemeClr val="dk1"/>
                </a:solidFill>
              </a:rPr>
              <a:t>more</a:t>
            </a:r>
            <a:r>
              <a:rPr lang="it">
                <a:solidFill>
                  <a:schemeClr val="dk1"/>
                </a:solidFill>
              </a:rPr>
              <a:t> false alarms per run. This proves that enforcing a Gaussian latent prior does not automatically help. A plausible explanation is that normal robot behavior is multimodal because different actions induce different temporal regimes. A single isotropic Gaussian prior may fail to capture this multimodal complexity, restricting the model's effectiveness.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4541d026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4541d026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Then, we analyze how the window length materially changes the evaluation problem. When we compare performance at 32 and 64 steps, we see that </a:t>
            </a:r>
            <a:r>
              <a:rPr b="1" lang="it">
                <a:solidFill>
                  <a:schemeClr val="dk1"/>
                </a:solidFill>
              </a:rPr>
              <a:t>increasing the temporal context improves both models</a:t>
            </a:r>
            <a:r>
              <a:rPr lang="it">
                <a:solidFill>
                  <a:schemeClr val="dk1"/>
                </a:solidFill>
              </a:rPr>
              <a:t>. This confirms that a longer temporal horizon benefits anomaly detection because it captures the robot's kinematics more effectively. However, notice that the AAE remains below the standard AE at both window lengths. </a:t>
            </a:r>
            <a:endParaRPr>
              <a:solidFill>
                <a:schemeClr val="dk1"/>
              </a:solidFill>
            </a:endParaRPr>
          </a:p>
          <a:p>
            <a:pPr indent="0" lvl="0" marL="0" rtl="0" algn="l">
              <a:spcBef>
                <a:spcPts val="0"/>
              </a:spcBef>
              <a:spcAft>
                <a:spcPts val="0"/>
              </a:spcAft>
              <a:buClr>
                <a:schemeClr val="dk1"/>
              </a:buClr>
              <a:buSzPts val="1100"/>
              <a:buFont typeface="Arial"/>
              <a:buNone/>
            </a:pPr>
            <a:br>
              <a:rPr lang="it">
                <a:solidFill>
                  <a:schemeClr val="dk1"/>
                </a:solidFill>
              </a:rPr>
            </a:br>
            <a:r>
              <a:rPr lang="it">
                <a:solidFill>
                  <a:schemeClr val="dk1"/>
                </a:solidFill>
              </a:rPr>
              <a:t>We also explored larger windows like w=128, which showed higher apparent scores. However, we strictly excluded them from the official protocol because they left too few test windows and a different anomaly prevalence. Excluding it prevents us from over-interpreting an artifact of changing evaluation populations.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4541d026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4541d026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To ensure our negative findings weren't just the result of a bad configuration, we performed a thorough ablation study over the AAE hyperparameters, varying the latent dimension and the adversarial weight lambda{adv}.</a:t>
            </a:r>
            <a:endParaRPr>
              <a:solidFill>
                <a:schemeClr val="dk1"/>
              </a:solidFill>
            </a:endParaRPr>
          </a:p>
          <a:p>
            <a:pPr indent="0" lvl="0" marL="0" rtl="0" algn="l">
              <a:spcBef>
                <a:spcPts val="0"/>
              </a:spcBef>
              <a:spcAft>
                <a:spcPts val="0"/>
              </a:spcAft>
              <a:buClr>
                <a:schemeClr val="dk1"/>
              </a:buClr>
              <a:buSzPts val="1100"/>
              <a:buFont typeface="Arial"/>
              <a:buNone/>
            </a:pPr>
            <a:br>
              <a:rPr lang="it">
                <a:solidFill>
                  <a:schemeClr val="dk1"/>
                </a:solidFill>
              </a:rPr>
            </a:br>
            <a:r>
              <a:rPr lang="it">
                <a:solidFill>
                  <a:schemeClr val="dk1"/>
                </a:solidFill>
              </a:rPr>
              <a:t>As the heatmap illustrates, the validation PR-AUC shows a very limited sensitivity to these hyperparameters. Our best configuration improved over the default AAE only slightly, but completely failed to close the gap to the plain AE baseline. This confirms that the limitation is likely due to the structural constraint of the adversarial prior itself, rather than a mere failure of hyperparameter tuning.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50b5e0c7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50b5e0c7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The most crucial improvement of our project comes from rewriting our reconstruction loss strategy, and these two plots perfectly illustrate why.If we look at the right graph, standard MSE penalizes large residuals quadratically. This means the model gets completely dominated by high-frequency sensor noise on a few channels, forcing the normal and anomalous test distributions to heavily overlap. You can see how the validation threshold at </a:t>
            </a:r>
            <a:r>
              <a:rPr b="1" lang="it">
                <a:solidFill>
                  <a:schemeClr val="dk1"/>
                </a:solidFill>
              </a:rPr>
              <a:t>0.2974</a:t>
            </a:r>
            <a:r>
              <a:rPr lang="it">
                <a:solidFill>
                  <a:schemeClr val="dk1"/>
                </a:solidFill>
              </a:rPr>
              <a:t> is trapped in a zone that inevitably triggers massive false alarms.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By switching to </a:t>
            </a:r>
            <a:r>
              <a:rPr b="1" lang="it">
                <a:solidFill>
                  <a:schemeClr val="dk1"/>
                </a:solidFill>
              </a:rPr>
              <a:t>Smooth L1 loss</a:t>
            </a:r>
            <a:r>
              <a:rPr lang="it">
                <a:solidFill>
                  <a:schemeClr val="dk1"/>
                </a:solidFill>
              </a:rPr>
              <a:t>—shown on the left—which behaves linearly for large errors, we completely decoupled the model from outlier noise. The normal distribution tightly shrinks toward zero, allowing our pipeline to isolate a clean validation threshold at </a:t>
            </a:r>
            <a:r>
              <a:rPr b="1" lang="it">
                <a:solidFill>
                  <a:schemeClr val="dk1"/>
                </a:solidFill>
              </a:rPr>
              <a:t>0.1240</a:t>
            </a:r>
            <a:r>
              <a:rPr lang="it">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This visual separation is precisely what drove our plain </a:t>
            </a:r>
            <a:r>
              <a:rPr b="1" lang="it">
                <a:solidFill>
                  <a:schemeClr val="dk1"/>
                </a:solidFill>
              </a:rPr>
              <a:t>AE MLP to its peak PR-AUC of 0.7634</a:t>
            </a:r>
            <a:r>
              <a:rPr lang="it">
                <a:solidFill>
                  <a:schemeClr val="dk1"/>
                </a:solidFill>
              </a:rPr>
              <a:t>, successfully outperforming our strong Isolation Forest baseline. The AAE improved too, but crucially, it still remained below the plain AE due to the Gaussian constraint we discussed. Ultimately, this shifts our entire narrative: the initial failure of deep architectures was not a structural limitation of Autoencoders, but a mathematical flaw of the MSE loss.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That concludes my part of the presentation. I will now hand over to Emanuele, who will take you through our final conclusions.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50760a3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50760a3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50760a3c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50760a3c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50760a3c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50760a3c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50760a3c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50760a3c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f50760a3ce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f50760a3ce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51f2c71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51f2c71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88c3895bf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88c3895bf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399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310d26ee_11_0)">
  <p:cSld name="Generated (g3f4310d26ee_11_0)">
    <p:spTree>
      <p:nvGrpSpPr>
        <p:cNvPr id="60" name="Shape 60"/>
        <p:cNvGrpSpPr/>
        <p:nvPr/>
      </p:nvGrpSpPr>
      <p:grpSpPr>
        <a:xfrm>
          <a:off x="0" y="0"/>
          <a:ext cx="0" cy="0"/>
          <a:chOff x="0" y="0"/>
          <a:chExt cx="0" cy="0"/>
        </a:xfrm>
      </p:grpSpPr>
      <p:sp>
        <p:nvSpPr>
          <p:cNvPr id="61" name="Google Shape;61;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p14:dur="100">
        <p:push/>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0" y="1275150"/>
            <a:ext cx="9144000" cy="158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sz="3200"/>
              <a:t>Detection of Anomalous Behaviour in an Industrial Robot</a:t>
            </a:r>
            <a:endParaRPr sz="3200"/>
          </a:p>
        </p:txBody>
      </p:sp>
      <p:sp>
        <p:nvSpPr>
          <p:cNvPr id="67" name="Google Shape;67;p14"/>
          <p:cNvSpPr txBox="1"/>
          <p:nvPr/>
        </p:nvSpPr>
        <p:spPr>
          <a:xfrm>
            <a:off x="672525" y="445913"/>
            <a:ext cx="7563300" cy="46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rgbClr val="F8F9FA"/>
                </a:solidFill>
                <a:latin typeface="Roboto Light"/>
                <a:ea typeface="Roboto Light"/>
                <a:cs typeface="Roboto Light"/>
                <a:sym typeface="Roboto Light"/>
              </a:rPr>
              <a:t>Machine Learning in Applications</a:t>
            </a:r>
            <a:r>
              <a:rPr lang="it" sz="1500">
                <a:solidFill>
                  <a:srgbClr val="F8F9FA"/>
                </a:solidFill>
                <a:latin typeface="Roboto Light"/>
                <a:ea typeface="Roboto Light"/>
                <a:cs typeface="Roboto Light"/>
                <a:sym typeface="Roboto Light"/>
              </a:rPr>
              <a:t>(A.Y. 2025/2026) - Politecnico di Torino</a:t>
            </a:r>
            <a:endParaRPr sz="1500">
              <a:solidFill>
                <a:srgbClr val="F8F9FA"/>
              </a:solidFill>
              <a:latin typeface="Roboto Light"/>
              <a:ea typeface="Roboto Light"/>
              <a:cs typeface="Roboto Light"/>
              <a:sym typeface="Roboto Light"/>
            </a:endParaRPr>
          </a:p>
          <a:p>
            <a:pPr indent="0" lvl="0" marL="0" rtl="0" algn="ctr">
              <a:spcBef>
                <a:spcPts val="0"/>
              </a:spcBef>
              <a:spcAft>
                <a:spcPts val="0"/>
              </a:spcAft>
              <a:buNone/>
            </a:pPr>
            <a:r>
              <a:t/>
            </a:r>
            <a:endParaRPr sz="1200">
              <a:solidFill>
                <a:srgbClr val="F8F9FA"/>
              </a:solidFill>
              <a:highlight>
                <a:schemeClr val="lt1"/>
              </a:highlight>
              <a:latin typeface="Roboto Light"/>
              <a:ea typeface="Roboto Light"/>
              <a:cs typeface="Roboto Light"/>
              <a:sym typeface="Roboto Light"/>
            </a:endParaRPr>
          </a:p>
        </p:txBody>
      </p:sp>
      <p:sp>
        <p:nvSpPr>
          <p:cNvPr id="68" name="Google Shape;68;p14"/>
          <p:cNvSpPr txBox="1"/>
          <p:nvPr/>
        </p:nvSpPr>
        <p:spPr>
          <a:xfrm>
            <a:off x="2588650" y="3522100"/>
            <a:ext cx="5013000" cy="1348500"/>
          </a:xfrm>
          <a:prstGeom prst="rect">
            <a:avLst/>
          </a:prstGeom>
          <a:noFill/>
          <a:ln>
            <a:noFill/>
          </a:ln>
        </p:spPr>
        <p:txBody>
          <a:bodyPr anchorCtr="0" anchor="t" bIns="91425" lIns="91425" spcFirstLastPara="1" rIns="91425" wrap="square" tIns="91425">
            <a:noAutofit/>
          </a:bodyPr>
          <a:lstStyle/>
          <a:p>
            <a:pPr indent="457200" lvl="0" marL="914400" rtl="0" algn="l">
              <a:spcBef>
                <a:spcPts val="0"/>
              </a:spcBef>
              <a:spcAft>
                <a:spcPts val="0"/>
              </a:spcAft>
              <a:buNone/>
            </a:pPr>
            <a:r>
              <a:rPr lang="it" sz="1300">
                <a:solidFill>
                  <a:schemeClr val="accent3"/>
                </a:solidFill>
                <a:latin typeface="Roboto"/>
                <a:ea typeface="Roboto"/>
                <a:cs typeface="Roboto"/>
                <a:sym typeface="Roboto"/>
              </a:rPr>
              <a:t>Shamim Zare	</a:t>
            </a:r>
            <a:endParaRPr sz="1300">
              <a:solidFill>
                <a:schemeClr val="accent3"/>
              </a:solidFill>
              <a:latin typeface="Roboto"/>
              <a:ea typeface="Roboto"/>
              <a:cs typeface="Roboto"/>
              <a:sym typeface="Roboto"/>
            </a:endParaRPr>
          </a:p>
          <a:p>
            <a:pPr indent="457200" lvl="0" marL="914400" rtl="0" algn="l">
              <a:spcBef>
                <a:spcPts val="0"/>
              </a:spcBef>
              <a:spcAft>
                <a:spcPts val="0"/>
              </a:spcAft>
              <a:buNone/>
            </a:pPr>
            <a:r>
              <a:rPr lang="it" sz="1300">
                <a:solidFill>
                  <a:schemeClr val="accent3"/>
                </a:solidFill>
                <a:latin typeface="Roboto"/>
                <a:ea typeface="Roboto"/>
                <a:cs typeface="Roboto"/>
                <a:sym typeface="Roboto"/>
              </a:rPr>
              <a:t>Fabio Marchese</a:t>
            </a:r>
            <a:endParaRPr sz="1300">
              <a:solidFill>
                <a:schemeClr val="accent3"/>
              </a:solidFill>
              <a:latin typeface="Roboto"/>
              <a:ea typeface="Roboto"/>
              <a:cs typeface="Roboto"/>
              <a:sym typeface="Roboto"/>
            </a:endParaRPr>
          </a:p>
          <a:p>
            <a:pPr indent="457200" lvl="0" marL="914400" rtl="0" algn="l">
              <a:spcBef>
                <a:spcPts val="0"/>
              </a:spcBef>
              <a:spcAft>
                <a:spcPts val="0"/>
              </a:spcAft>
              <a:buNone/>
            </a:pPr>
            <a:r>
              <a:rPr lang="it" sz="1300">
                <a:solidFill>
                  <a:schemeClr val="accent3"/>
                </a:solidFill>
                <a:latin typeface="Roboto"/>
                <a:ea typeface="Roboto"/>
                <a:cs typeface="Roboto"/>
                <a:sym typeface="Roboto"/>
              </a:rPr>
              <a:t>Geremia Feira</a:t>
            </a:r>
            <a:endParaRPr sz="1300">
              <a:solidFill>
                <a:schemeClr val="accent3"/>
              </a:solidFill>
              <a:latin typeface="Roboto"/>
              <a:ea typeface="Roboto"/>
              <a:cs typeface="Roboto"/>
              <a:sym typeface="Roboto"/>
            </a:endParaRPr>
          </a:p>
          <a:p>
            <a:pPr indent="457200" lvl="0" marL="914400" rtl="0" algn="l">
              <a:spcBef>
                <a:spcPts val="0"/>
              </a:spcBef>
              <a:spcAft>
                <a:spcPts val="0"/>
              </a:spcAft>
              <a:buNone/>
            </a:pPr>
            <a:r>
              <a:rPr lang="it" sz="1300">
                <a:solidFill>
                  <a:schemeClr val="accent3"/>
                </a:solidFill>
                <a:latin typeface="Roboto"/>
                <a:ea typeface="Roboto"/>
                <a:cs typeface="Roboto"/>
                <a:sym typeface="Roboto"/>
              </a:rPr>
              <a:t>Emanuele Bernacchi    </a:t>
            </a:r>
            <a:endParaRPr sz="1300">
              <a:solidFill>
                <a:schemeClr val="accent3"/>
              </a:solidFill>
              <a:latin typeface="Roboto"/>
              <a:ea typeface="Roboto"/>
              <a:cs typeface="Roboto"/>
              <a:sym typeface="Roboto"/>
            </a:endParaRPr>
          </a:p>
          <a:p>
            <a:pPr indent="457200" lvl="0" marL="914400" rtl="0" algn="l">
              <a:spcBef>
                <a:spcPts val="0"/>
              </a:spcBef>
              <a:spcAft>
                <a:spcPts val="0"/>
              </a:spcAft>
              <a:buNone/>
            </a:pPr>
            <a:r>
              <a:t/>
            </a:r>
            <a:endParaRPr sz="1300">
              <a:solidFill>
                <a:schemeClr val="accent3"/>
              </a:solidFill>
              <a:latin typeface="Roboto"/>
              <a:ea typeface="Roboto"/>
              <a:cs typeface="Roboto"/>
              <a:sym typeface="Roboto"/>
            </a:endParaRPr>
          </a:p>
          <a:p>
            <a:pPr indent="457200" lvl="0" marL="914400" rtl="0" algn="l">
              <a:spcBef>
                <a:spcPts val="0"/>
              </a:spcBef>
              <a:spcAft>
                <a:spcPts val="0"/>
              </a:spcAft>
              <a:buNone/>
            </a:pPr>
            <a:r>
              <a:t/>
            </a:r>
            <a:endParaRPr sz="1300">
              <a:solidFill>
                <a:schemeClr val="accent3"/>
              </a:solidFill>
              <a:latin typeface="Roboto"/>
              <a:ea typeface="Roboto"/>
              <a:cs typeface="Roboto"/>
              <a:sym typeface="Roboto"/>
            </a:endParaRPr>
          </a:p>
        </p:txBody>
      </p:sp>
      <p:sp>
        <p:nvSpPr>
          <p:cNvPr id="69" name="Google Shape;69;p14"/>
          <p:cNvSpPr txBox="1"/>
          <p:nvPr/>
        </p:nvSpPr>
        <p:spPr>
          <a:xfrm>
            <a:off x="2652838" y="3522102"/>
            <a:ext cx="1279200" cy="7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300">
                <a:solidFill>
                  <a:schemeClr val="accent3"/>
                </a:solidFill>
                <a:latin typeface="Roboto"/>
                <a:ea typeface="Roboto"/>
                <a:cs typeface="Roboto"/>
                <a:sym typeface="Roboto"/>
              </a:rPr>
              <a:t>Presented by: </a:t>
            </a:r>
            <a:endParaRPr b="1" sz="1300">
              <a:solidFill>
                <a:schemeClr val="accent3"/>
              </a:solidFill>
              <a:latin typeface="Roboto"/>
              <a:ea typeface="Roboto"/>
              <a:cs typeface="Roboto"/>
              <a:sym typeface="Roboto"/>
            </a:endParaRPr>
          </a:p>
        </p:txBody>
      </p:sp>
      <p:sp>
        <p:nvSpPr>
          <p:cNvPr id="70" name="Google Shape;70;p14"/>
          <p:cNvSpPr txBox="1"/>
          <p:nvPr/>
        </p:nvSpPr>
        <p:spPr>
          <a:xfrm>
            <a:off x="5866483" y="3522102"/>
            <a:ext cx="1051800" cy="10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300">
                <a:solidFill>
                  <a:schemeClr val="accent3"/>
                </a:solidFill>
                <a:latin typeface="Roboto"/>
                <a:ea typeface="Roboto"/>
                <a:cs typeface="Roboto"/>
                <a:sym typeface="Roboto"/>
              </a:rPr>
              <a:t>s327306</a:t>
            </a:r>
            <a:endParaRPr sz="1300">
              <a:solidFill>
                <a:schemeClr val="accent3"/>
              </a:solidFill>
              <a:latin typeface="Roboto"/>
              <a:ea typeface="Roboto"/>
              <a:cs typeface="Roboto"/>
              <a:sym typeface="Roboto"/>
            </a:endParaRPr>
          </a:p>
          <a:p>
            <a:pPr indent="0" lvl="0" marL="0" rtl="0" algn="l">
              <a:spcBef>
                <a:spcPts val="0"/>
              </a:spcBef>
              <a:spcAft>
                <a:spcPts val="0"/>
              </a:spcAft>
              <a:buNone/>
            </a:pPr>
            <a:r>
              <a:rPr lang="it" sz="1300">
                <a:solidFill>
                  <a:schemeClr val="accent3"/>
                </a:solidFill>
                <a:latin typeface="Roboto"/>
                <a:ea typeface="Roboto"/>
                <a:cs typeface="Roboto"/>
                <a:sym typeface="Roboto"/>
              </a:rPr>
              <a:t>s349514</a:t>
            </a:r>
            <a:endParaRPr sz="1300">
              <a:solidFill>
                <a:schemeClr val="accent3"/>
              </a:solidFill>
              <a:latin typeface="Roboto"/>
              <a:ea typeface="Roboto"/>
              <a:cs typeface="Roboto"/>
              <a:sym typeface="Roboto"/>
            </a:endParaRPr>
          </a:p>
          <a:p>
            <a:pPr indent="0" lvl="0" marL="0" rtl="0" algn="l">
              <a:spcBef>
                <a:spcPts val="0"/>
              </a:spcBef>
              <a:spcAft>
                <a:spcPts val="0"/>
              </a:spcAft>
              <a:buNone/>
            </a:pPr>
            <a:r>
              <a:rPr lang="it" sz="1300">
                <a:solidFill>
                  <a:schemeClr val="accent3"/>
                </a:solidFill>
                <a:latin typeface="Roboto"/>
                <a:ea typeface="Roboto"/>
                <a:cs typeface="Roboto"/>
                <a:sym typeface="Roboto"/>
              </a:rPr>
              <a:t>s342726</a:t>
            </a:r>
            <a:endParaRPr sz="1300">
              <a:solidFill>
                <a:schemeClr val="accent3"/>
              </a:solidFill>
              <a:latin typeface="Roboto"/>
              <a:ea typeface="Roboto"/>
              <a:cs typeface="Roboto"/>
              <a:sym typeface="Roboto"/>
            </a:endParaRPr>
          </a:p>
          <a:p>
            <a:pPr indent="0" lvl="0" marL="0" rtl="0" algn="l">
              <a:spcBef>
                <a:spcPts val="0"/>
              </a:spcBef>
              <a:spcAft>
                <a:spcPts val="0"/>
              </a:spcAft>
              <a:buNone/>
            </a:pPr>
            <a:r>
              <a:rPr lang="it" sz="1300">
                <a:solidFill>
                  <a:schemeClr val="accent3"/>
                </a:solidFill>
                <a:latin typeface="Roboto"/>
                <a:ea typeface="Roboto"/>
                <a:cs typeface="Roboto"/>
                <a:sym typeface="Roboto"/>
              </a:rPr>
              <a:t>s347744</a:t>
            </a:r>
            <a:endParaRPr sz="1300">
              <a:solidFill>
                <a:schemeClr val="accent3"/>
              </a:solidFill>
              <a:latin typeface="Roboto"/>
              <a:ea typeface="Roboto"/>
              <a:cs typeface="Roboto"/>
              <a:sym typeface="Roboto"/>
            </a:endParaRPr>
          </a:p>
          <a:p>
            <a:pPr indent="0" lvl="0" marL="0" rtl="0" algn="l">
              <a:spcBef>
                <a:spcPts val="0"/>
              </a:spcBef>
              <a:spcAft>
                <a:spcPts val="0"/>
              </a:spcAft>
              <a:buNone/>
            </a:pPr>
            <a:r>
              <a:t/>
            </a:r>
            <a:endParaRPr sz="1300">
              <a:solidFill>
                <a:schemeClr val="accent3"/>
              </a:solidFill>
              <a:latin typeface="Roboto"/>
              <a:ea typeface="Roboto"/>
              <a:cs typeface="Roboto"/>
              <a:sym typeface="Roboto"/>
            </a:endParaRPr>
          </a:p>
        </p:txBody>
      </p:sp>
      <p:sp>
        <p:nvSpPr>
          <p:cNvPr id="71" name="Google Shape;7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0" y="1275150"/>
            <a:ext cx="9144000" cy="158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sz="3200"/>
              <a:t>Materials and Methods</a:t>
            </a:r>
            <a:endParaRPr sz="3200"/>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6"/>
          <p:cNvSpPr/>
          <p:nvPr/>
        </p:nvSpPr>
        <p:spPr>
          <a:xfrm>
            <a:off x="0" y="0"/>
            <a:ext cx="9144000" cy="10722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6"/>
          <p:cNvSpPr txBox="1"/>
          <p:nvPr/>
        </p:nvSpPr>
        <p:spPr>
          <a:xfrm>
            <a:off x="381000" y="232646"/>
            <a:ext cx="8382000" cy="638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it" sz="2840">
                <a:solidFill>
                  <a:srgbClr val="FFFFFF"/>
                </a:solidFill>
                <a:latin typeface="EB Garamond"/>
                <a:ea typeface="EB Garamond"/>
                <a:cs typeface="EB Garamond"/>
                <a:sym typeface="EB Garamond"/>
              </a:rPr>
              <a:t>Dataset Analysis</a:t>
            </a:r>
            <a:endParaRPr b="0" sz="2840">
              <a:solidFill>
                <a:srgbClr val="FFFFFF"/>
              </a:solidFill>
              <a:latin typeface="EB Garamond"/>
              <a:ea typeface="EB Garamond"/>
              <a:cs typeface="EB Garamond"/>
              <a:sym typeface="EB Garamond"/>
            </a:endParaRPr>
          </a:p>
        </p:txBody>
      </p:sp>
      <p:sp>
        <p:nvSpPr>
          <p:cNvPr id="84" name="Google Shape;84;p1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5" name="Google Shape;85;p16"/>
          <p:cNvSpPr/>
          <p:nvPr/>
        </p:nvSpPr>
        <p:spPr>
          <a:xfrm>
            <a:off x="381000" y="1451087"/>
            <a:ext cx="4000500" cy="3143400"/>
          </a:xfrm>
          <a:prstGeom prst="roundRect">
            <a:avLst>
              <a:gd fmla="val 3636"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6"/>
          <p:cNvSpPr/>
          <p:nvPr/>
        </p:nvSpPr>
        <p:spPr>
          <a:xfrm>
            <a:off x="4667250" y="1451087"/>
            <a:ext cx="4095900" cy="3143400"/>
          </a:xfrm>
          <a:prstGeom prst="roundRect">
            <a:avLst>
              <a:gd fmla="val 3636"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6"/>
          <p:cNvSpPr/>
          <p:nvPr/>
        </p:nvSpPr>
        <p:spPr>
          <a:xfrm>
            <a:off x="571500" y="1641587"/>
            <a:ext cx="1047900" cy="228600"/>
          </a:xfrm>
          <a:prstGeom prst="roundRect">
            <a:avLst>
              <a:gd fmla="val 50000" name="adj"/>
            </a:avLst>
          </a:prstGeom>
          <a:solidFill>
            <a:srgbClr val="31394D"/>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6"/>
          <p:cNvSpPr txBox="1"/>
          <p:nvPr/>
        </p:nvSpPr>
        <p:spPr>
          <a:xfrm>
            <a:off x="4857750" y="1689211"/>
            <a:ext cx="37149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1600">
                <a:solidFill>
                  <a:srgbClr val="252B3A"/>
                </a:solidFill>
                <a:latin typeface="EB Garamond"/>
                <a:ea typeface="EB Garamond"/>
                <a:cs typeface="EB Garamond"/>
                <a:sym typeface="EB Garamond"/>
              </a:rPr>
              <a:t>Dataset Composition</a:t>
            </a:r>
            <a:endParaRPr b="1" sz="1600">
              <a:solidFill>
                <a:srgbClr val="252B3A"/>
              </a:solidFill>
              <a:latin typeface="EB Garamond"/>
              <a:ea typeface="EB Garamond"/>
              <a:cs typeface="EB Garamond"/>
              <a:sym typeface="EB Garamond"/>
            </a:endParaRPr>
          </a:p>
        </p:txBody>
      </p:sp>
      <p:sp>
        <p:nvSpPr>
          <p:cNvPr id="89" name="Google Shape;89;p16"/>
          <p:cNvSpPr txBox="1"/>
          <p:nvPr/>
        </p:nvSpPr>
        <p:spPr>
          <a:xfrm>
            <a:off x="571500" y="1641586"/>
            <a:ext cx="10479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OVERVIEW</a:t>
            </a:r>
            <a:endParaRPr b="1" sz="900">
              <a:solidFill>
                <a:srgbClr val="FFFFFF"/>
              </a:solidFill>
              <a:latin typeface="EB Garamond"/>
              <a:ea typeface="EB Garamond"/>
              <a:cs typeface="EB Garamond"/>
              <a:sym typeface="EB Garamond"/>
            </a:endParaRPr>
          </a:p>
        </p:txBody>
      </p:sp>
      <p:pic>
        <p:nvPicPr>
          <p:cNvPr id="90" name="Google Shape;90;p16"/>
          <p:cNvPicPr preferRelativeResize="0"/>
          <p:nvPr/>
        </p:nvPicPr>
        <p:blipFill rotWithShape="1">
          <a:blip r:embed="rId3">
            <a:alphaModFix/>
          </a:blip>
          <a:srcRect b="0" l="60" r="70" t="0"/>
          <a:stretch/>
        </p:blipFill>
        <p:spPr>
          <a:xfrm>
            <a:off x="4857750" y="2260712"/>
            <a:ext cx="3714900" cy="1143000"/>
          </a:xfrm>
          <a:prstGeom prst="rect">
            <a:avLst/>
          </a:prstGeom>
          <a:noFill/>
          <a:ln>
            <a:noFill/>
          </a:ln>
        </p:spPr>
      </p:pic>
      <p:sp>
        <p:nvSpPr>
          <p:cNvPr id="91" name="Google Shape;91;p16"/>
          <p:cNvSpPr txBox="1"/>
          <p:nvPr/>
        </p:nvSpPr>
        <p:spPr>
          <a:xfrm>
            <a:off x="571500" y="1974961"/>
            <a:ext cx="3619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1600">
                <a:solidFill>
                  <a:srgbClr val="252B3A"/>
                </a:solidFill>
                <a:latin typeface="EB Garamond"/>
                <a:ea typeface="EB Garamond"/>
                <a:cs typeface="EB Garamond"/>
                <a:sym typeface="EB Garamond"/>
              </a:rPr>
              <a:t>Dataset Properties</a:t>
            </a:r>
            <a:endParaRPr b="1" sz="1600">
              <a:solidFill>
                <a:srgbClr val="252B3A"/>
              </a:solidFill>
              <a:latin typeface="EB Garamond"/>
              <a:ea typeface="EB Garamond"/>
              <a:cs typeface="EB Garamond"/>
              <a:sym typeface="EB Garamond"/>
            </a:endParaRPr>
          </a:p>
        </p:txBody>
      </p:sp>
      <p:sp>
        <p:nvSpPr>
          <p:cNvPr id="92" name="Google Shape;92;p16"/>
          <p:cNvSpPr txBox="1"/>
          <p:nvPr/>
        </p:nvSpPr>
        <p:spPr>
          <a:xfrm>
            <a:off x="571500" y="2403586"/>
            <a:ext cx="36195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it" sz="1100">
                <a:solidFill>
                  <a:srgbClr val="4A5568"/>
                </a:solidFill>
                <a:latin typeface="EB Garamond"/>
                <a:ea typeface="EB Garamond"/>
                <a:cs typeface="EB Garamond"/>
                <a:sym typeface="EB Garamond"/>
              </a:rPr>
              <a:t>• </a:t>
            </a:r>
            <a:r>
              <a:rPr b="1" lang="it" sz="1100">
                <a:solidFill>
                  <a:srgbClr val="252B3A"/>
                </a:solidFill>
                <a:latin typeface="EB Garamond"/>
                <a:ea typeface="EB Garamond"/>
                <a:cs typeface="EB Garamond"/>
                <a:sym typeface="EB Garamond"/>
              </a:rPr>
              <a:t>Temporal Unit</a:t>
            </a:r>
            <a:r>
              <a:rPr b="0" lang="it" sz="1100">
                <a:solidFill>
                  <a:srgbClr val="4A5568"/>
                </a:solidFill>
                <a:latin typeface="EB Garamond"/>
                <a:ea typeface="EB Garamond"/>
                <a:cs typeface="EB Garamond"/>
                <a:sym typeface="EB Garamond"/>
              </a:rPr>
              <a:t>: Each row corresponds to one timestep.</a:t>
            </a:r>
            <a:endParaRPr b="0" sz="1100">
              <a:solidFill>
                <a:srgbClr val="4A5568"/>
              </a:solidFill>
              <a:latin typeface="EB Garamond"/>
              <a:ea typeface="EB Garamond"/>
              <a:cs typeface="EB Garamond"/>
              <a:sym typeface="EB Garamond"/>
            </a:endParaRPr>
          </a:p>
          <a:p>
            <a:pPr indent="0" lvl="0" marL="0" rtl="0" algn="l">
              <a:spcBef>
                <a:spcPts val="900"/>
              </a:spcBef>
              <a:spcAft>
                <a:spcPts val="0"/>
              </a:spcAft>
              <a:buNone/>
            </a:pPr>
            <a:r>
              <a:rPr b="0" lang="it" sz="1100">
                <a:solidFill>
                  <a:srgbClr val="4A5568"/>
                </a:solidFill>
                <a:latin typeface="EB Garamond"/>
                <a:ea typeface="EB Garamond"/>
                <a:cs typeface="EB Garamond"/>
                <a:sym typeface="EB Garamond"/>
              </a:rPr>
              <a:t>• </a:t>
            </a:r>
            <a:r>
              <a:rPr b="1" lang="it" sz="1100">
                <a:solidFill>
                  <a:srgbClr val="252B3A"/>
                </a:solidFill>
                <a:latin typeface="EB Garamond"/>
                <a:ea typeface="EB Garamond"/>
                <a:cs typeface="EB Garamond"/>
                <a:sym typeface="EB Garamond"/>
              </a:rPr>
              <a:t>Dimensionality</a:t>
            </a:r>
            <a:r>
              <a:rPr b="0" lang="it" sz="1100">
                <a:solidFill>
                  <a:srgbClr val="4A5568"/>
                </a:solidFill>
                <a:latin typeface="EB Garamond"/>
                <a:ea typeface="EB Garamond"/>
                <a:cs typeface="EB Garamond"/>
                <a:sym typeface="EB Garamond"/>
              </a:rPr>
              <a:t>: </a:t>
            </a:r>
            <a:r>
              <a:rPr b="1" lang="it" sz="1100">
                <a:solidFill>
                  <a:srgbClr val="4A5568"/>
                </a:solidFill>
                <a:latin typeface="EB Garamond"/>
                <a:ea typeface="EB Garamond"/>
                <a:cs typeface="EB Garamond"/>
                <a:sym typeface="EB Garamond"/>
              </a:rPr>
              <a:t>85 numerical features</a:t>
            </a:r>
            <a:r>
              <a:rPr b="0" lang="it" sz="1100">
                <a:solidFill>
                  <a:srgbClr val="4A5568"/>
                </a:solidFill>
                <a:latin typeface="EB Garamond"/>
                <a:ea typeface="EB Garamond"/>
                <a:cs typeface="EB Garamond"/>
                <a:sym typeface="EB Garamond"/>
              </a:rPr>
              <a:t> were used for the analysis.</a:t>
            </a:r>
            <a:endParaRPr b="0" sz="1100">
              <a:solidFill>
                <a:srgbClr val="4A5568"/>
              </a:solidFill>
              <a:latin typeface="EB Garamond"/>
              <a:ea typeface="EB Garamond"/>
              <a:cs typeface="EB Garamond"/>
              <a:sym typeface="EB Garamond"/>
            </a:endParaRPr>
          </a:p>
          <a:p>
            <a:pPr indent="0" lvl="0" marL="0" rtl="0" algn="l">
              <a:spcBef>
                <a:spcPts val="900"/>
              </a:spcBef>
              <a:spcAft>
                <a:spcPts val="900"/>
              </a:spcAft>
              <a:buNone/>
            </a:pPr>
            <a:r>
              <a:rPr b="0" lang="it" sz="1100">
                <a:solidFill>
                  <a:srgbClr val="4A5568"/>
                </a:solidFill>
                <a:latin typeface="EB Garamond"/>
                <a:ea typeface="EB Garamond"/>
                <a:cs typeface="EB Garamond"/>
                <a:sym typeface="EB Garamond"/>
              </a:rPr>
              <a:t>• </a:t>
            </a:r>
            <a:r>
              <a:rPr b="1" lang="it" sz="1100">
                <a:solidFill>
                  <a:srgbClr val="252B3A"/>
                </a:solidFill>
                <a:latin typeface="EB Garamond"/>
                <a:ea typeface="EB Garamond"/>
                <a:cs typeface="EB Garamond"/>
                <a:sym typeface="EB Garamond"/>
              </a:rPr>
              <a:t>Action Segmentation</a:t>
            </a:r>
            <a:r>
              <a:rPr b="0" lang="it" sz="1100">
                <a:solidFill>
                  <a:srgbClr val="4A5568"/>
                </a:solidFill>
                <a:latin typeface="EB Garamond"/>
                <a:ea typeface="EB Garamond"/>
                <a:cs typeface="EB Garamond"/>
                <a:sym typeface="EB Garamond"/>
              </a:rPr>
              <a:t>: Executions are segmented at changes of the robot action to form homogeneous runs.</a:t>
            </a:r>
            <a:endParaRPr b="0" sz="1100">
              <a:solidFill>
                <a:srgbClr val="4A5568"/>
              </a:solidFill>
              <a:latin typeface="EB Garamond"/>
              <a:ea typeface="EB Garamond"/>
              <a:cs typeface="EB Garamond"/>
              <a:sym typeface="EB 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7"/>
          <p:cNvSpPr/>
          <p:nvPr/>
        </p:nvSpPr>
        <p:spPr>
          <a:xfrm>
            <a:off x="0" y="0"/>
            <a:ext cx="9144000" cy="10722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7"/>
          <p:cNvSpPr txBox="1"/>
          <p:nvPr/>
        </p:nvSpPr>
        <p:spPr>
          <a:xfrm>
            <a:off x="381000" y="23264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Pipeline: P</a:t>
            </a:r>
            <a:r>
              <a:rPr b="0" lang="it" sz="2800">
                <a:solidFill>
                  <a:srgbClr val="FFFFFF"/>
                </a:solidFill>
                <a:latin typeface="Merriweather"/>
                <a:ea typeface="Merriweather"/>
                <a:cs typeface="Merriweather"/>
                <a:sym typeface="Merriweather"/>
              </a:rPr>
              <a:t>reprocessing &amp; </a:t>
            </a:r>
            <a:r>
              <a:rPr lang="it" sz="2800">
                <a:solidFill>
                  <a:srgbClr val="FFFFFF"/>
                </a:solidFill>
                <a:latin typeface="Merriweather"/>
                <a:ea typeface="Merriweather"/>
                <a:cs typeface="Merriweather"/>
                <a:sym typeface="Merriweather"/>
              </a:rPr>
              <a:t>D</a:t>
            </a:r>
            <a:r>
              <a:rPr b="0" lang="it" sz="2800">
                <a:solidFill>
                  <a:srgbClr val="FFFFFF"/>
                </a:solidFill>
                <a:latin typeface="Merriweather"/>
                <a:ea typeface="Merriweather"/>
                <a:cs typeface="Merriweather"/>
                <a:sym typeface="Merriweather"/>
              </a:rPr>
              <a:t>ata Split</a:t>
            </a:r>
            <a:endParaRPr b="0" sz="2800">
              <a:solidFill>
                <a:srgbClr val="FFFFFF"/>
              </a:solidFill>
              <a:latin typeface="Merriweather"/>
              <a:ea typeface="Merriweather"/>
              <a:cs typeface="Merriweather"/>
              <a:sym typeface="Merriweather"/>
            </a:endParaRPr>
          </a:p>
        </p:txBody>
      </p:sp>
      <p:grpSp>
        <p:nvGrpSpPr>
          <p:cNvPr id="99" name="Google Shape;99;p17"/>
          <p:cNvGrpSpPr/>
          <p:nvPr/>
        </p:nvGrpSpPr>
        <p:grpSpPr>
          <a:xfrm>
            <a:off x="381000" y="1714500"/>
            <a:ext cx="2533800" cy="2667000"/>
            <a:chOff x="381000" y="1714500"/>
            <a:chExt cx="2533800" cy="2667000"/>
          </a:xfrm>
        </p:grpSpPr>
        <p:sp>
          <p:nvSpPr>
            <p:cNvPr id="100" name="Google Shape;100;p17"/>
            <p:cNvSpPr/>
            <p:nvPr/>
          </p:nvSpPr>
          <p:spPr>
            <a:xfrm>
              <a:off x="381000" y="1714500"/>
              <a:ext cx="2533800" cy="2667000"/>
            </a:xfrm>
            <a:prstGeom prst="roundRect">
              <a:avLst>
                <a:gd fmla="val 4511" name="adj"/>
              </a:avLst>
            </a:prstGeom>
            <a:solidFill>
              <a:srgbClr val="FFFFFF"/>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7"/>
            <p:cNvSpPr/>
            <p:nvPr/>
          </p:nvSpPr>
          <p:spPr>
            <a:xfrm>
              <a:off x="523875" y="1857375"/>
              <a:ext cx="1047900" cy="228600"/>
            </a:xfrm>
            <a:prstGeom prst="roundRect">
              <a:avLst>
                <a:gd fmla="val 16666" name="adj"/>
              </a:avLst>
            </a:prstGeom>
            <a:solidFill>
              <a:srgbClr val="31394D"/>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7"/>
            <p:cNvSpPr txBox="1"/>
            <p:nvPr/>
          </p:nvSpPr>
          <p:spPr>
            <a:xfrm>
              <a:off x="523875" y="1857375"/>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Step 01</a:t>
              </a:r>
              <a:endParaRPr b="1" sz="900">
                <a:solidFill>
                  <a:srgbClr val="FFFFFF"/>
                </a:solidFill>
                <a:latin typeface="EB Garamond"/>
                <a:ea typeface="EB Garamond"/>
                <a:cs typeface="EB Garamond"/>
                <a:sym typeface="EB Garamond"/>
              </a:endParaRPr>
            </a:p>
          </p:txBody>
        </p:sp>
        <p:sp>
          <p:nvSpPr>
            <p:cNvPr id="103" name="Google Shape;103;p17"/>
            <p:cNvSpPr txBox="1"/>
            <p:nvPr/>
          </p:nvSpPr>
          <p:spPr>
            <a:xfrm>
              <a:off x="523875" y="2238375"/>
              <a:ext cx="2247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600">
                  <a:solidFill>
                    <a:srgbClr val="31394D"/>
                  </a:solidFill>
                  <a:latin typeface="EB Garamond"/>
                  <a:ea typeface="EB Garamond"/>
                  <a:cs typeface="EB Garamond"/>
                  <a:sym typeface="EB Garamond"/>
                </a:rPr>
                <a:t>Cleaning Missing Values</a:t>
              </a:r>
              <a:endParaRPr b="1" sz="1600">
                <a:solidFill>
                  <a:srgbClr val="31394D"/>
                </a:solidFill>
                <a:latin typeface="EB Garamond"/>
                <a:ea typeface="EB Garamond"/>
                <a:cs typeface="EB Garamond"/>
                <a:sym typeface="EB Garamond"/>
              </a:endParaRPr>
            </a:p>
          </p:txBody>
        </p:sp>
        <p:sp>
          <p:nvSpPr>
            <p:cNvPr id="104" name="Google Shape;104;p17"/>
            <p:cNvSpPr txBox="1"/>
            <p:nvPr/>
          </p:nvSpPr>
          <p:spPr>
            <a:xfrm>
              <a:off x="523875" y="2619375"/>
              <a:ext cx="224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200">
                  <a:solidFill>
                    <a:srgbClr val="495057"/>
                  </a:solidFill>
                  <a:latin typeface="EB Garamond"/>
                  <a:ea typeface="EB Garamond"/>
                  <a:cs typeface="EB Garamond"/>
                  <a:sym typeface="EB Garamond"/>
                </a:rPr>
                <a:t>• </a:t>
              </a:r>
              <a:r>
                <a:rPr b="1" lang="it" sz="1200">
                  <a:solidFill>
                    <a:srgbClr val="495057"/>
                  </a:solidFill>
                  <a:latin typeface="EB Garamond"/>
                  <a:ea typeface="EB Garamond"/>
                  <a:cs typeface="EB Garamond"/>
                  <a:sym typeface="EB Garamond"/>
                </a:rPr>
                <a:t>Linear interpolation</a:t>
              </a:r>
              <a:r>
                <a:rPr lang="it" sz="1200">
                  <a:solidFill>
                    <a:srgbClr val="495057"/>
                  </a:solidFill>
                  <a:latin typeface="EB Garamond"/>
                  <a:ea typeface="EB Garamond"/>
                  <a:cs typeface="EB Garamond"/>
                  <a:sym typeface="EB Garamond"/>
                </a:rPr>
                <a:t> applied within each individual run.</a:t>
              </a:r>
              <a:endParaRPr sz="1200">
                <a:solidFill>
                  <a:srgbClr val="495057"/>
                </a:solidFill>
                <a:latin typeface="EB Garamond"/>
                <a:ea typeface="EB Garamond"/>
                <a:cs typeface="EB Garamond"/>
                <a:sym typeface="EB Garamond"/>
              </a:endParaRPr>
            </a:p>
            <a:p>
              <a:pPr indent="0" lvl="0" marL="0" rtl="0" algn="l">
                <a:spcBef>
                  <a:spcPts val="750"/>
                </a:spcBef>
                <a:spcAft>
                  <a:spcPts val="0"/>
                </a:spcAft>
                <a:buNone/>
              </a:pPr>
              <a:r>
                <a:rPr lang="it" sz="1200">
                  <a:solidFill>
                    <a:srgbClr val="495057"/>
                  </a:solidFill>
                  <a:latin typeface="EB Garamond"/>
                  <a:ea typeface="EB Garamond"/>
                  <a:cs typeface="EB Garamond"/>
                  <a:sym typeface="EB Garamond"/>
                </a:rPr>
                <a:t>• </a:t>
              </a:r>
              <a:r>
                <a:rPr b="1" lang="it" sz="1200">
                  <a:solidFill>
                    <a:srgbClr val="495057"/>
                  </a:solidFill>
                  <a:latin typeface="EB Garamond"/>
                  <a:ea typeface="EB Garamond"/>
                  <a:cs typeface="EB Garamond"/>
                  <a:sym typeface="EB Garamond"/>
                </a:rPr>
                <a:t>Forward &amp; backward fill</a:t>
              </a:r>
              <a:r>
                <a:rPr lang="it" sz="1200">
                  <a:solidFill>
                    <a:srgbClr val="495057"/>
                  </a:solidFill>
                  <a:latin typeface="EB Garamond"/>
                  <a:ea typeface="EB Garamond"/>
                  <a:cs typeface="EB Garamond"/>
                  <a:sym typeface="EB Garamond"/>
                </a:rPr>
                <a:t> used to resolve remaining edge anomalies.</a:t>
              </a:r>
              <a:endParaRPr sz="1200">
                <a:solidFill>
                  <a:srgbClr val="495057"/>
                </a:solidFill>
                <a:latin typeface="EB Garamond"/>
                <a:ea typeface="EB Garamond"/>
                <a:cs typeface="EB Garamond"/>
                <a:sym typeface="EB Garamond"/>
              </a:endParaRPr>
            </a:p>
          </p:txBody>
        </p:sp>
      </p:grpSp>
      <p:grpSp>
        <p:nvGrpSpPr>
          <p:cNvPr id="105" name="Google Shape;105;p17"/>
          <p:cNvGrpSpPr/>
          <p:nvPr/>
        </p:nvGrpSpPr>
        <p:grpSpPr>
          <a:xfrm>
            <a:off x="3295650" y="1714500"/>
            <a:ext cx="2533800" cy="2667000"/>
            <a:chOff x="3295650" y="1714500"/>
            <a:chExt cx="2533800" cy="2667000"/>
          </a:xfrm>
        </p:grpSpPr>
        <p:sp>
          <p:nvSpPr>
            <p:cNvPr id="106" name="Google Shape;106;p17"/>
            <p:cNvSpPr/>
            <p:nvPr/>
          </p:nvSpPr>
          <p:spPr>
            <a:xfrm>
              <a:off x="3295650" y="1714500"/>
              <a:ext cx="2533800" cy="2667000"/>
            </a:xfrm>
            <a:prstGeom prst="roundRect">
              <a:avLst>
                <a:gd fmla="val 4511" name="adj"/>
              </a:avLst>
            </a:prstGeom>
            <a:solidFill>
              <a:srgbClr val="FFFFFF"/>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7"/>
            <p:cNvSpPr/>
            <p:nvPr/>
          </p:nvSpPr>
          <p:spPr>
            <a:xfrm>
              <a:off x="3438525" y="1857375"/>
              <a:ext cx="1047900" cy="228600"/>
            </a:xfrm>
            <a:prstGeom prst="roundRect">
              <a:avLst>
                <a:gd fmla="val 16666" name="adj"/>
              </a:avLst>
            </a:prstGeom>
            <a:solidFill>
              <a:srgbClr val="31394D"/>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7"/>
            <p:cNvSpPr txBox="1"/>
            <p:nvPr/>
          </p:nvSpPr>
          <p:spPr>
            <a:xfrm>
              <a:off x="3438525" y="1857375"/>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Step 02</a:t>
              </a:r>
              <a:endParaRPr b="1" sz="900">
                <a:solidFill>
                  <a:srgbClr val="FFFFFF"/>
                </a:solidFill>
                <a:latin typeface="EB Garamond"/>
                <a:ea typeface="EB Garamond"/>
                <a:cs typeface="EB Garamond"/>
                <a:sym typeface="EB Garamond"/>
              </a:endParaRPr>
            </a:p>
          </p:txBody>
        </p:sp>
        <p:sp>
          <p:nvSpPr>
            <p:cNvPr id="109" name="Google Shape;109;p17"/>
            <p:cNvSpPr txBox="1"/>
            <p:nvPr/>
          </p:nvSpPr>
          <p:spPr>
            <a:xfrm>
              <a:off x="3438525" y="2238375"/>
              <a:ext cx="2247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600">
                  <a:solidFill>
                    <a:srgbClr val="31394D"/>
                  </a:solidFill>
                  <a:latin typeface="EB Garamond"/>
                  <a:ea typeface="EB Garamond"/>
                  <a:cs typeface="EB Garamond"/>
                  <a:sym typeface="EB Garamond"/>
                </a:rPr>
                <a:t>Run-Level Split</a:t>
              </a:r>
              <a:endParaRPr b="1" sz="1600">
                <a:solidFill>
                  <a:srgbClr val="31394D"/>
                </a:solidFill>
                <a:latin typeface="EB Garamond"/>
                <a:ea typeface="EB Garamond"/>
                <a:cs typeface="EB Garamond"/>
                <a:sym typeface="EB Garamond"/>
              </a:endParaRPr>
            </a:p>
          </p:txBody>
        </p:sp>
        <p:sp>
          <p:nvSpPr>
            <p:cNvPr id="110" name="Google Shape;110;p17"/>
            <p:cNvSpPr txBox="1"/>
            <p:nvPr/>
          </p:nvSpPr>
          <p:spPr>
            <a:xfrm>
              <a:off x="3438525" y="2619375"/>
              <a:ext cx="224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200">
                  <a:solidFill>
                    <a:srgbClr val="495057"/>
                  </a:solidFill>
                  <a:latin typeface="EB Garamond"/>
                  <a:ea typeface="EB Garamond"/>
                  <a:cs typeface="EB Garamond"/>
                  <a:sym typeface="EB Garamond"/>
                </a:rPr>
                <a:t>• Splitting performed strictly at the </a:t>
              </a:r>
              <a:r>
                <a:rPr b="1" lang="it" sz="1200">
                  <a:solidFill>
                    <a:srgbClr val="495057"/>
                  </a:solidFill>
                  <a:latin typeface="EB Garamond"/>
                  <a:ea typeface="EB Garamond"/>
                  <a:cs typeface="EB Garamond"/>
                  <a:sym typeface="EB Garamond"/>
                </a:rPr>
                <a:t>run level</a:t>
              </a:r>
              <a:r>
                <a:rPr lang="it" sz="1200">
                  <a:solidFill>
                    <a:srgbClr val="495057"/>
                  </a:solidFill>
                  <a:latin typeface="EB Garamond"/>
                  <a:ea typeface="EB Garamond"/>
                  <a:cs typeface="EB Garamond"/>
                  <a:sym typeface="EB Garamond"/>
                </a:rPr>
                <a:t> to completely avoid data leakage.</a:t>
              </a:r>
              <a:endParaRPr sz="1200">
                <a:solidFill>
                  <a:srgbClr val="495057"/>
                </a:solidFill>
                <a:latin typeface="EB Garamond"/>
                <a:ea typeface="EB Garamond"/>
                <a:cs typeface="EB Garamond"/>
                <a:sym typeface="EB Garamond"/>
              </a:endParaRPr>
            </a:p>
            <a:p>
              <a:pPr indent="0" lvl="0" marL="0" rtl="0" algn="l">
                <a:spcBef>
                  <a:spcPts val="750"/>
                </a:spcBef>
                <a:spcAft>
                  <a:spcPts val="0"/>
                </a:spcAft>
                <a:buNone/>
              </a:pPr>
              <a:r>
                <a:rPr lang="it" sz="1200">
                  <a:solidFill>
                    <a:srgbClr val="495057"/>
                  </a:solidFill>
                  <a:latin typeface="EB Garamond"/>
                  <a:ea typeface="EB Garamond"/>
                  <a:cs typeface="EB Garamond"/>
                  <a:sym typeface="EB Garamond"/>
                </a:rPr>
                <a:t>• </a:t>
              </a:r>
              <a:r>
                <a:rPr b="1" lang="it" sz="1200">
                  <a:solidFill>
                    <a:srgbClr val="495057"/>
                  </a:solidFill>
                  <a:latin typeface="EB Garamond"/>
                  <a:ea typeface="EB Garamond"/>
                  <a:cs typeface="EB Garamond"/>
                  <a:sym typeface="EB Garamond"/>
                </a:rPr>
                <a:t>Training = 60% | Validation = 20% | Test = 20%</a:t>
              </a:r>
              <a:endParaRPr b="1" sz="1200">
                <a:solidFill>
                  <a:srgbClr val="495057"/>
                </a:solidFill>
                <a:latin typeface="EB Garamond"/>
                <a:ea typeface="EB Garamond"/>
                <a:cs typeface="EB Garamond"/>
                <a:sym typeface="EB Garamond"/>
              </a:endParaRPr>
            </a:p>
          </p:txBody>
        </p:sp>
      </p:grpSp>
      <p:grpSp>
        <p:nvGrpSpPr>
          <p:cNvPr id="111" name="Google Shape;111;p17"/>
          <p:cNvGrpSpPr/>
          <p:nvPr/>
        </p:nvGrpSpPr>
        <p:grpSpPr>
          <a:xfrm>
            <a:off x="6229350" y="1714500"/>
            <a:ext cx="2533800" cy="2667000"/>
            <a:chOff x="6229350" y="1714500"/>
            <a:chExt cx="2533800" cy="2667000"/>
          </a:xfrm>
        </p:grpSpPr>
        <p:sp>
          <p:nvSpPr>
            <p:cNvPr id="112" name="Google Shape;112;p17"/>
            <p:cNvSpPr/>
            <p:nvPr/>
          </p:nvSpPr>
          <p:spPr>
            <a:xfrm>
              <a:off x="6229350" y="1714500"/>
              <a:ext cx="2533800" cy="2667000"/>
            </a:xfrm>
            <a:prstGeom prst="roundRect">
              <a:avLst>
                <a:gd fmla="val 4511" name="adj"/>
              </a:avLst>
            </a:prstGeom>
            <a:solidFill>
              <a:srgbClr val="FFFFFF"/>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7"/>
            <p:cNvSpPr/>
            <p:nvPr/>
          </p:nvSpPr>
          <p:spPr>
            <a:xfrm>
              <a:off x="6372225" y="1857375"/>
              <a:ext cx="1047900" cy="228600"/>
            </a:xfrm>
            <a:prstGeom prst="roundRect">
              <a:avLst>
                <a:gd fmla="val 16666" name="adj"/>
              </a:avLst>
            </a:prstGeom>
            <a:solidFill>
              <a:srgbClr val="31394D"/>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7"/>
            <p:cNvSpPr txBox="1"/>
            <p:nvPr/>
          </p:nvSpPr>
          <p:spPr>
            <a:xfrm>
              <a:off x="6372225" y="1857375"/>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Step 03</a:t>
              </a:r>
              <a:endParaRPr b="1" sz="900">
                <a:solidFill>
                  <a:srgbClr val="FFFFFF"/>
                </a:solidFill>
                <a:latin typeface="EB Garamond"/>
                <a:ea typeface="EB Garamond"/>
                <a:cs typeface="EB Garamond"/>
                <a:sym typeface="EB Garamond"/>
              </a:endParaRPr>
            </a:p>
          </p:txBody>
        </p:sp>
        <p:sp>
          <p:nvSpPr>
            <p:cNvPr id="115" name="Google Shape;115;p17"/>
            <p:cNvSpPr txBox="1"/>
            <p:nvPr/>
          </p:nvSpPr>
          <p:spPr>
            <a:xfrm>
              <a:off x="6372225" y="2238375"/>
              <a:ext cx="2247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600">
                  <a:solidFill>
                    <a:srgbClr val="31394D"/>
                  </a:solidFill>
                  <a:latin typeface="EB Garamond"/>
                  <a:ea typeface="EB Garamond"/>
                  <a:cs typeface="EB Garamond"/>
                  <a:sym typeface="EB Garamond"/>
                </a:rPr>
                <a:t>Feature Scaling</a:t>
              </a:r>
              <a:endParaRPr b="1" sz="1600">
                <a:solidFill>
                  <a:srgbClr val="31394D"/>
                </a:solidFill>
                <a:latin typeface="EB Garamond"/>
                <a:ea typeface="EB Garamond"/>
                <a:cs typeface="EB Garamond"/>
                <a:sym typeface="EB Garamond"/>
              </a:endParaRPr>
            </a:p>
          </p:txBody>
        </p:sp>
        <p:sp>
          <p:nvSpPr>
            <p:cNvPr id="116" name="Google Shape;116;p17"/>
            <p:cNvSpPr txBox="1"/>
            <p:nvPr/>
          </p:nvSpPr>
          <p:spPr>
            <a:xfrm>
              <a:off x="6372225" y="2619375"/>
              <a:ext cx="224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200">
                  <a:solidFill>
                    <a:srgbClr val="495057"/>
                  </a:solidFill>
                  <a:latin typeface="EB Garamond"/>
                  <a:ea typeface="EB Garamond"/>
                  <a:cs typeface="EB Garamond"/>
                  <a:sym typeface="EB Garamond"/>
                </a:rPr>
                <a:t>• </a:t>
              </a:r>
              <a:r>
                <a:rPr b="1" lang="it" sz="1200">
                  <a:solidFill>
                    <a:srgbClr val="495057"/>
                  </a:solidFill>
                  <a:latin typeface="EB Garamond"/>
                  <a:ea typeface="EB Garamond"/>
                  <a:cs typeface="EB Garamond"/>
                  <a:sym typeface="EB Garamond"/>
                </a:rPr>
                <a:t>StandardScaler</a:t>
              </a:r>
              <a:r>
                <a:rPr lang="it" sz="1200">
                  <a:solidFill>
                    <a:srgbClr val="495057"/>
                  </a:solidFill>
                  <a:latin typeface="EB Garamond"/>
                  <a:ea typeface="EB Garamond"/>
                  <a:cs typeface="EB Garamond"/>
                  <a:sym typeface="EB Garamond"/>
                </a:rPr>
                <a:t> used as the primary normalization protocol.</a:t>
              </a:r>
              <a:endParaRPr sz="1200">
                <a:solidFill>
                  <a:srgbClr val="495057"/>
                </a:solidFill>
                <a:latin typeface="EB Garamond"/>
                <a:ea typeface="EB Garamond"/>
                <a:cs typeface="EB Garamond"/>
                <a:sym typeface="EB Garamond"/>
              </a:endParaRPr>
            </a:p>
            <a:p>
              <a:pPr indent="0" lvl="0" marL="0" rtl="0" algn="l">
                <a:spcBef>
                  <a:spcPts val="750"/>
                </a:spcBef>
                <a:spcAft>
                  <a:spcPts val="0"/>
                </a:spcAft>
                <a:buNone/>
              </a:pPr>
              <a:r>
                <a:rPr lang="it" sz="1200">
                  <a:solidFill>
                    <a:srgbClr val="495057"/>
                  </a:solidFill>
                  <a:latin typeface="EB Garamond"/>
                  <a:ea typeface="EB Garamond"/>
                  <a:cs typeface="EB Garamond"/>
                  <a:sym typeface="EB Garamond"/>
                </a:rPr>
                <a:t>• Fitted </a:t>
              </a:r>
              <a:r>
                <a:rPr b="1" lang="it" sz="1200">
                  <a:solidFill>
                    <a:srgbClr val="495057"/>
                  </a:solidFill>
                  <a:latin typeface="EB Garamond"/>
                  <a:ea typeface="EB Garamond"/>
                  <a:cs typeface="EB Garamond"/>
                  <a:sym typeface="EB Garamond"/>
                </a:rPr>
                <a:t>only on normal training data</a:t>
              </a:r>
              <a:r>
                <a:rPr lang="it" sz="1200">
                  <a:solidFill>
                    <a:srgbClr val="495057"/>
                  </a:solidFill>
                  <a:latin typeface="EB Garamond"/>
                  <a:ea typeface="EB Garamond"/>
                  <a:cs typeface="EB Garamond"/>
                  <a:sym typeface="EB Garamond"/>
                </a:rPr>
                <a:t> to preserve evaluation integrity.</a:t>
              </a:r>
              <a:endParaRPr sz="1200">
                <a:solidFill>
                  <a:srgbClr val="495057"/>
                </a:solidFill>
                <a:latin typeface="EB Garamond"/>
                <a:ea typeface="EB Garamond"/>
                <a:cs typeface="EB Garamond"/>
                <a:sym typeface="EB Garamond"/>
              </a:endParaRPr>
            </a:p>
          </p:txBody>
        </p:sp>
      </p:grpSp>
      <p:sp>
        <p:nvSpPr>
          <p:cNvPr id="117" name="Google Shape;117;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18"/>
          <p:cNvSpPr/>
          <p:nvPr/>
        </p:nvSpPr>
        <p:spPr>
          <a:xfrm>
            <a:off x="0" y="0"/>
            <a:ext cx="9144000" cy="10722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8"/>
          <p:cNvSpPr txBox="1"/>
          <p:nvPr/>
        </p:nvSpPr>
        <p:spPr>
          <a:xfrm>
            <a:off x="381000" y="246133"/>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Pipeline: Windowing</a:t>
            </a:r>
            <a:endParaRPr b="0" sz="2800">
              <a:solidFill>
                <a:srgbClr val="FFFFFF"/>
              </a:solidFill>
              <a:latin typeface="Merriweather"/>
              <a:ea typeface="Merriweather"/>
              <a:cs typeface="Merriweather"/>
              <a:sym typeface="Merriweather"/>
            </a:endParaRPr>
          </a:p>
        </p:txBody>
      </p:sp>
      <p:grpSp>
        <p:nvGrpSpPr>
          <p:cNvPr id="124" name="Google Shape;124;p18"/>
          <p:cNvGrpSpPr/>
          <p:nvPr/>
        </p:nvGrpSpPr>
        <p:grpSpPr>
          <a:xfrm>
            <a:off x="381000" y="1666875"/>
            <a:ext cx="4000500" cy="3143400"/>
            <a:chOff x="381000" y="1666875"/>
            <a:chExt cx="4000500" cy="3143400"/>
          </a:xfrm>
        </p:grpSpPr>
        <p:sp>
          <p:nvSpPr>
            <p:cNvPr id="125" name="Google Shape;125;p18"/>
            <p:cNvSpPr/>
            <p:nvPr/>
          </p:nvSpPr>
          <p:spPr>
            <a:xfrm>
              <a:off x="381000" y="1666875"/>
              <a:ext cx="4000500" cy="3143400"/>
            </a:xfrm>
            <a:prstGeom prst="roundRect">
              <a:avLst>
                <a:gd fmla="val 3636" name="adj"/>
              </a:avLst>
            </a:prstGeom>
            <a:solidFill>
              <a:srgbClr val="FFFFFF"/>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8"/>
            <p:cNvSpPr/>
            <p:nvPr/>
          </p:nvSpPr>
          <p:spPr>
            <a:xfrm>
              <a:off x="571500" y="1857375"/>
              <a:ext cx="857400" cy="228600"/>
            </a:xfrm>
            <a:prstGeom prst="roundRect">
              <a:avLst>
                <a:gd fmla="val 50000" name="adj"/>
              </a:avLst>
            </a:prstGeom>
            <a:solidFill>
              <a:srgbClr val="31394D"/>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8"/>
            <p:cNvSpPr txBox="1"/>
            <p:nvPr/>
          </p:nvSpPr>
          <p:spPr>
            <a:xfrm>
              <a:off x="571500" y="1857375"/>
              <a:ext cx="8574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STEP 04</a:t>
              </a:r>
              <a:endParaRPr b="1" sz="900">
                <a:solidFill>
                  <a:srgbClr val="FFFFFF"/>
                </a:solidFill>
                <a:latin typeface="EB Garamond"/>
                <a:ea typeface="EB Garamond"/>
                <a:cs typeface="EB Garamond"/>
                <a:sym typeface="EB Garamond"/>
              </a:endParaRPr>
            </a:p>
          </p:txBody>
        </p:sp>
        <p:sp>
          <p:nvSpPr>
            <p:cNvPr id="128" name="Google Shape;128;p18"/>
            <p:cNvSpPr txBox="1"/>
            <p:nvPr/>
          </p:nvSpPr>
          <p:spPr>
            <a:xfrm>
              <a:off x="571500" y="2190750"/>
              <a:ext cx="36195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252B3A"/>
                  </a:solidFill>
                  <a:latin typeface="EB Garamond"/>
                  <a:ea typeface="EB Garamond"/>
                  <a:cs typeface="EB Garamond"/>
                  <a:sym typeface="EB Garamond"/>
                </a:rPr>
                <a:t>Window Management</a:t>
              </a:r>
              <a:endParaRPr b="1" sz="2000">
                <a:solidFill>
                  <a:srgbClr val="252B3A"/>
                </a:solidFill>
                <a:latin typeface="EB Garamond"/>
                <a:ea typeface="EB Garamond"/>
                <a:cs typeface="EB Garamond"/>
                <a:sym typeface="EB Garamond"/>
              </a:endParaRPr>
            </a:p>
          </p:txBody>
        </p:sp>
        <p:sp>
          <p:nvSpPr>
            <p:cNvPr id="129" name="Google Shape;129;p18"/>
            <p:cNvSpPr txBox="1"/>
            <p:nvPr/>
          </p:nvSpPr>
          <p:spPr>
            <a:xfrm>
              <a:off x="571500" y="2619375"/>
              <a:ext cx="36195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it">
                  <a:solidFill>
                    <a:srgbClr val="4A5568"/>
                  </a:solidFill>
                  <a:latin typeface="EB Garamond"/>
                  <a:ea typeface="EB Garamond"/>
                  <a:cs typeface="EB Garamond"/>
                  <a:sym typeface="EB Garamond"/>
                </a:rPr>
                <a:t>• </a:t>
              </a:r>
              <a:r>
                <a:rPr b="1" lang="it">
                  <a:solidFill>
                    <a:srgbClr val="252B3A"/>
                  </a:solidFill>
                  <a:latin typeface="EB Garamond"/>
                  <a:ea typeface="EB Garamond"/>
                  <a:cs typeface="EB Garamond"/>
                  <a:sym typeface="EB Garamond"/>
                </a:rPr>
                <a:t>Window length</a:t>
              </a:r>
              <a:r>
                <a:rPr lang="it">
                  <a:solidFill>
                    <a:srgbClr val="4A5568"/>
                  </a:solidFill>
                  <a:latin typeface="EB Garamond"/>
                  <a:ea typeface="EB Garamond"/>
                  <a:cs typeface="EB Garamond"/>
                  <a:sym typeface="EB Garamond"/>
                </a:rPr>
                <a:t> = 64</a:t>
              </a:r>
              <a:endParaRPr>
                <a:solidFill>
                  <a:srgbClr val="4A5568"/>
                </a:solidFill>
                <a:latin typeface="EB Garamond"/>
                <a:ea typeface="EB Garamond"/>
                <a:cs typeface="EB Garamond"/>
                <a:sym typeface="EB Garamond"/>
              </a:endParaRPr>
            </a:p>
            <a:p>
              <a:pPr indent="0" lvl="0" marL="0" rtl="0" algn="l">
                <a:spcBef>
                  <a:spcPts val="600"/>
                </a:spcBef>
                <a:spcAft>
                  <a:spcPts val="0"/>
                </a:spcAft>
                <a:buNone/>
              </a:pPr>
              <a:r>
                <a:rPr lang="it">
                  <a:solidFill>
                    <a:srgbClr val="4A5568"/>
                  </a:solidFill>
                  <a:latin typeface="EB Garamond"/>
                  <a:ea typeface="EB Garamond"/>
                  <a:cs typeface="EB Garamond"/>
                  <a:sym typeface="EB Garamond"/>
                </a:rPr>
                <a:t>• </a:t>
              </a:r>
              <a:r>
                <a:rPr b="1" lang="it">
                  <a:solidFill>
                    <a:srgbClr val="252B3A"/>
                  </a:solidFill>
                  <a:latin typeface="EB Garamond"/>
                  <a:ea typeface="EB Garamond"/>
                  <a:cs typeface="EB Garamond"/>
                  <a:sym typeface="EB Garamond"/>
                </a:rPr>
                <a:t>Stride</a:t>
              </a:r>
              <a:r>
                <a:rPr lang="it">
                  <a:solidFill>
                    <a:srgbClr val="4A5568"/>
                  </a:solidFill>
                  <a:latin typeface="EB Garamond"/>
                  <a:ea typeface="EB Garamond"/>
                  <a:cs typeface="EB Garamond"/>
                  <a:sym typeface="EB Garamond"/>
                </a:rPr>
                <a:t> = 16</a:t>
              </a:r>
              <a:endParaRPr>
                <a:solidFill>
                  <a:srgbClr val="4A5568"/>
                </a:solidFill>
                <a:latin typeface="EB Garamond"/>
                <a:ea typeface="EB Garamond"/>
                <a:cs typeface="EB Garamond"/>
                <a:sym typeface="EB Garamond"/>
              </a:endParaRPr>
            </a:p>
            <a:p>
              <a:pPr indent="0" lvl="0" marL="0" rtl="0" algn="l">
                <a:spcBef>
                  <a:spcPts val="600"/>
                </a:spcBef>
                <a:spcAft>
                  <a:spcPts val="0"/>
                </a:spcAft>
                <a:buNone/>
              </a:pPr>
              <a:r>
                <a:rPr lang="it">
                  <a:solidFill>
                    <a:srgbClr val="4A5568"/>
                  </a:solidFill>
                  <a:latin typeface="EB Garamond"/>
                  <a:ea typeface="EB Garamond"/>
                  <a:cs typeface="EB Garamond"/>
                  <a:sym typeface="EB Garamond"/>
                </a:rPr>
                <a:t>• </a:t>
              </a:r>
              <a:r>
                <a:rPr b="1" lang="it">
                  <a:solidFill>
                    <a:srgbClr val="252B3A"/>
                  </a:solidFill>
                  <a:latin typeface="EB Garamond"/>
                  <a:ea typeface="EB Garamond"/>
                  <a:cs typeface="EB Garamond"/>
                  <a:sym typeface="EB Garamond"/>
                </a:rPr>
                <a:t>Anomalous</a:t>
              </a:r>
              <a:r>
                <a:rPr lang="it">
                  <a:solidFill>
                    <a:srgbClr val="4A5568"/>
                  </a:solidFill>
                  <a:latin typeface="EB Garamond"/>
                  <a:ea typeface="EB Garamond"/>
                  <a:cs typeface="EB Garamond"/>
                  <a:sym typeface="EB Garamond"/>
                </a:rPr>
                <a:t> if </a:t>
              </a:r>
              <a:r>
                <a:rPr b="1" lang="it">
                  <a:solidFill>
                    <a:schemeClr val="dk1"/>
                  </a:solidFill>
                  <a:latin typeface="EB Garamond"/>
                  <a:ea typeface="EB Garamond"/>
                  <a:cs typeface="EB Garamond"/>
                  <a:sym typeface="EB Garamond"/>
                </a:rPr>
                <a:t>at least 10%</a:t>
              </a:r>
              <a:r>
                <a:rPr lang="it">
                  <a:solidFill>
                    <a:srgbClr val="4A5568"/>
                  </a:solidFill>
                  <a:latin typeface="EB Garamond"/>
                  <a:ea typeface="EB Garamond"/>
                  <a:cs typeface="EB Garamond"/>
                  <a:sym typeface="EB Garamond"/>
                </a:rPr>
                <a:t> of internal timesteps are anomalous</a:t>
              </a:r>
              <a:endParaRPr>
                <a:solidFill>
                  <a:srgbClr val="4A5568"/>
                </a:solidFill>
                <a:latin typeface="EB Garamond"/>
                <a:ea typeface="EB Garamond"/>
                <a:cs typeface="EB Garamond"/>
                <a:sym typeface="EB Garamond"/>
              </a:endParaRPr>
            </a:p>
          </p:txBody>
        </p:sp>
      </p:grpSp>
      <p:pic>
        <p:nvPicPr>
          <p:cNvPr id="130" name="Google Shape;130;p18"/>
          <p:cNvPicPr preferRelativeResize="0"/>
          <p:nvPr/>
        </p:nvPicPr>
        <p:blipFill rotWithShape="1">
          <a:blip r:embed="rId3">
            <a:alphaModFix/>
          </a:blip>
          <a:srcRect b="0" l="0" r="0" t="0"/>
          <a:stretch/>
        </p:blipFill>
        <p:spPr>
          <a:xfrm>
            <a:off x="1345340" y="3834100"/>
            <a:ext cx="2071800" cy="638100"/>
          </a:xfrm>
          <a:prstGeom prst="rect">
            <a:avLst/>
          </a:prstGeom>
          <a:noFill/>
          <a:ln>
            <a:noFill/>
          </a:ln>
        </p:spPr>
      </p:pic>
      <p:grpSp>
        <p:nvGrpSpPr>
          <p:cNvPr id="131" name="Google Shape;131;p18"/>
          <p:cNvGrpSpPr/>
          <p:nvPr/>
        </p:nvGrpSpPr>
        <p:grpSpPr>
          <a:xfrm>
            <a:off x="4667250" y="1666875"/>
            <a:ext cx="4095900" cy="3143400"/>
            <a:chOff x="4667250" y="1666875"/>
            <a:chExt cx="4095900" cy="3143400"/>
          </a:xfrm>
        </p:grpSpPr>
        <p:sp>
          <p:nvSpPr>
            <p:cNvPr id="132" name="Google Shape;132;p18"/>
            <p:cNvSpPr/>
            <p:nvPr/>
          </p:nvSpPr>
          <p:spPr>
            <a:xfrm>
              <a:off x="4667250" y="1666875"/>
              <a:ext cx="4095900" cy="3143400"/>
            </a:xfrm>
            <a:prstGeom prst="roundRect">
              <a:avLst>
                <a:gd fmla="val 3636" name="adj"/>
              </a:avLst>
            </a:prstGeom>
            <a:solidFill>
              <a:srgbClr val="FFFFFF"/>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8"/>
            <p:cNvSpPr txBox="1"/>
            <p:nvPr/>
          </p:nvSpPr>
          <p:spPr>
            <a:xfrm>
              <a:off x="4857750" y="1905000"/>
              <a:ext cx="37149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252B3A"/>
                  </a:solidFill>
                  <a:latin typeface="EB Garamond"/>
                  <a:ea typeface="EB Garamond"/>
                  <a:cs typeface="EB Garamond"/>
                  <a:sym typeface="EB Garamond"/>
                </a:rPr>
                <a:t>Split &amp; Windowing Summary</a:t>
              </a:r>
              <a:endParaRPr b="1" sz="2000">
                <a:solidFill>
                  <a:srgbClr val="252B3A"/>
                </a:solidFill>
                <a:latin typeface="EB Garamond"/>
                <a:ea typeface="EB Garamond"/>
                <a:cs typeface="EB Garamond"/>
                <a:sym typeface="EB Garamond"/>
              </a:endParaRPr>
            </a:p>
          </p:txBody>
        </p:sp>
        <p:sp>
          <p:nvSpPr>
            <p:cNvPr id="134" name="Google Shape;134;p18"/>
            <p:cNvSpPr txBox="1"/>
            <p:nvPr/>
          </p:nvSpPr>
          <p:spPr>
            <a:xfrm>
              <a:off x="4857750" y="2238375"/>
              <a:ext cx="37149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b="0" sz="1050">
                <a:solidFill>
                  <a:srgbClr val="718096"/>
                </a:solidFill>
                <a:latin typeface="Roboto"/>
                <a:ea typeface="Roboto"/>
                <a:cs typeface="Roboto"/>
                <a:sym typeface="Roboto"/>
              </a:endParaRPr>
            </a:p>
          </p:txBody>
        </p:sp>
      </p:grpSp>
      <p:pic>
        <p:nvPicPr>
          <p:cNvPr id="135" name="Google Shape;135;p18"/>
          <p:cNvPicPr preferRelativeResize="0"/>
          <p:nvPr/>
        </p:nvPicPr>
        <p:blipFill rotWithShape="1">
          <a:blip r:embed="rId4">
            <a:alphaModFix/>
          </a:blip>
          <a:srcRect b="0" l="10" r="0" t="0"/>
          <a:stretch/>
        </p:blipFill>
        <p:spPr>
          <a:xfrm>
            <a:off x="4857750" y="2857500"/>
            <a:ext cx="3714900" cy="709500"/>
          </a:xfrm>
          <a:prstGeom prst="rect">
            <a:avLst/>
          </a:prstGeom>
          <a:noFill/>
          <a:ln>
            <a:noFill/>
          </a:ln>
        </p:spPr>
      </p:pic>
      <p:sp>
        <p:nvSpPr>
          <p:cNvPr id="136" name="Google Shape;136;p1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9"/>
          <p:cNvSpPr txBox="1"/>
          <p:nvPr/>
        </p:nvSpPr>
        <p:spPr>
          <a:xfrm>
            <a:off x="381000" y="259619"/>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Evaluated Models</a:t>
            </a:r>
            <a:endParaRPr b="0" sz="2800">
              <a:solidFill>
                <a:srgbClr val="FFFFFF"/>
              </a:solidFill>
              <a:latin typeface="Merriweather"/>
              <a:ea typeface="Merriweather"/>
              <a:cs typeface="Merriweather"/>
              <a:sym typeface="Merriweather"/>
            </a:endParaRPr>
          </a:p>
        </p:txBody>
      </p:sp>
      <p:grpSp>
        <p:nvGrpSpPr>
          <p:cNvPr id="143" name="Google Shape;143;p19"/>
          <p:cNvGrpSpPr/>
          <p:nvPr/>
        </p:nvGrpSpPr>
        <p:grpSpPr>
          <a:xfrm>
            <a:off x="381000" y="1714500"/>
            <a:ext cx="1562100" cy="2667000"/>
            <a:chOff x="381000" y="1714500"/>
            <a:chExt cx="1562100" cy="2667000"/>
          </a:xfrm>
        </p:grpSpPr>
        <p:sp>
          <p:nvSpPr>
            <p:cNvPr id="144" name="Google Shape;144;p19"/>
            <p:cNvSpPr/>
            <p:nvPr/>
          </p:nvSpPr>
          <p:spPr>
            <a:xfrm>
              <a:off x="381000" y="1714500"/>
              <a:ext cx="1562100" cy="2667000"/>
            </a:xfrm>
            <a:prstGeom prst="roundRect">
              <a:avLst>
                <a:gd fmla="val 731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9"/>
            <p:cNvSpPr/>
            <p:nvPr/>
          </p:nvSpPr>
          <p:spPr>
            <a:xfrm>
              <a:off x="523875" y="1857375"/>
              <a:ext cx="762000" cy="209700"/>
            </a:xfrm>
            <a:prstGeom prst="roundRect">
              <a:avLst>
                <a:gd fmla="val 18181"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9"/>
            <p:cNvSpPr txBox="1"/>
            <p:nvPr/>
          </p:nvSpPr>
          <p:spPr>
            <a:xfrm>
              <a:off x="523875" y="1857375"/>
              <a:ext cx="762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Baseline</a:t>
              </a:r>
              <a:endParaRPr b="1" sz="900">
                <a:solidFill>
                  <a:srgbClr val="FFFFFF"/>
                </a:solidFill>
                <a:latin typeface="EB Garamond"/>
                <a:ea typeface="EB Garamond"/>
                <a:cs typeface="EB Garamond"/>
                <a:sym typeface="EB Garamond"/>
              </a:endParaRPr>
            </a:p>
          </p:txBody>
        </p:sp>
        <p:sp>
          <p:nvSpPr>
            <p:cNvPr id="147" name="Google Shape;147;p19"/>
            <p:cNvSpPr txBox="1"/>
            <p:nvPr/>
          </p:nvSpPr>
          <p:spPr>
            <a:xfrm>
              <a:off x="523875" y="2209800"/>
              <a:ext cx="1276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31394D"/>
                  </a:solidFill>
                  <a:latin typeface="EB Garamond"/>
                  <a:ea typeface="EB Garamond"/>
                  <a:cs typeface="EB Garamond"/>
                  <a:sym typeface="EB Garamond"/>
                </a:rPr>
                <a:t>PCA</a:t>
              </a:r>
              <a:endParaRPr b="1" sz="1300">
                <a:solidFill>
                  <a:srgbClr val="31394D"/>
                </a:solidFill>
                <a:latin typeface="EB Garamond"/>
                <a:ea typeface="EB Garamond"/>
                <a:cs typeface="EB Garamond"/>
                <a:sym typeface="EB Garamond"/>
              </a:endParaRPr>
            </a:p>
          </p:txBody>
        </p:sp>
        <p:sp>
          <p:nvSpPr>
            <p:cNvPr id="148" name="Google Shape;148;p19"/>
            <p:cNvSpPr txBox="1"/>
            <p:nvPr/>
          </p:nvSpPr>
          <p:spPr>
            <a:xfrm>
              <a:off x="523875" y="2571750"/>
              <a:ext cx="1276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100">
                  <a:solidFill>
                    <a:srgbClr val="495057"/>
                  </a:solidFill>
                  <a:latin typeface="EB Garamond"/>
                  <a:ea typeface="EB Garamond"/>
                  <a:cs typeface="EB Garamond"/>
                  <a:sym typeface="EB Garamond"/>
                </a:rPr>
                <a:t>• window </a:t>
              </a:r>
              <a:r>
                <a:rPr b="1" lang="it" sz="1100">
                  <a:solidFill>
                    <a:srgbClr val="495057"/>
                  </a:solidFill>
                  <a:latin typeface="EB Garamond"/>
                  <a:ea typeface="EB Garamond"/>
                  <a:cs typeface="EB Garamond"/>
                  <a:sym typeface="EB Garamond"/>
                </a:rPr>
                <a:t>flattened</a:t>
              </a:r>
              <a:r>
                <a:rPr lang="it" sz="1100">
                  <a:solidFill>
                    <a:srgbClr val="495057"/>
                  </a:solidFill>
                  <a:latin typeface="EB Garamond"/>
                  <a:ea typeface="EB Garamond"/>
                  <a:cs typeface="EB Garamond"/>
                  <a:sym typeface="EB Garamond"/>
                </a:rPr>
                <a:t> from 64 x 85 to </a:t>
              </a:r>
              <a:r>
                <a:rPr b="1" lang="it" sz="1100">
                  <a:solidFill>
                    <a:srgbClr val="495057"/>
                  </a:solidFill>
                  <a:latin typeface="EB Garamond"/>
                  <a:ea typeface="EB Garamond"/>
                  <a:cs typeface="EB Garamond"/>
                  <a:sym typeface="EB Garamond"/>
                </a:rPr>
                <a:t>5440 dimensions</a:t>
              </a:r>
              <a:endParaRPr b="1" sz="1100">
                <a:solidFill>
                  <a:srgbClr val="495057"/>
                </a:solidFill>
                <a:latin typeface="EB Garamond"/>
                <a:ea typeface="EB Garamond"/>
                <a:cs typeface="EB Garamond"/>
                <a:sym typeface="EB Garamond"/>
              </a:endParaRPr>
            </a:p>
            <a:p>
              <a:pPr indent="0" lvl="0" marL="0" rtl="0" algn="l">
                <a:lnSpc>
                  <a:spcPct val="150000"/>
                </a:lnSpc>
                <a:spcBef>
                  <a:spcPts val="750"/>
                </a:spcBef>
                <a:spcAft>
                  <a:spcPts val="0"/>
                </a:spcAft>
                <a:buNone/>
              </a:pPr>
              <a:r>
                <a:rPr lang="it" sz="1100">
                  <a:solidFill>
                    <a:srgbClr val="495057"/>
                  </a:solidFill>
                  <a:latin typeface="EB Garamond"/>
                  <a:ea typeface="EB Garamond"/>
                  <a:cs typeface="EB Garamond"/>
                  <a:sym typeface="EB Garamond"/>
                </a:rPr>
                <a:t>• </a:t>
              </a:r>
              <a:r>
                <a:rPr b="1" lang="it" sz="1100">
                  <a:solidFill>
                    <a:srgbClr val="495057"/>
                  </a:solidFill>
                  <a:latin typeface="EB Garamond"/>
                  <a:ea typeface="EB Garamond"/>
                  <a:cs typeface="EB Garamond"/>
                  <a:sym typeface="EB Garamond"/>
                </a:rPr>
                <a:t>95% of variance kept</a:t>
              </a:r>
              <a:endParaRPr sz="1100">
                <a:solidFill>
                  <a:srgbClr val="495057"/>
                </a:solidFill>
                <a:latin typeface="EB Garamond"/>
                <a:ea typeface="EB Garamond"/>
                <a:cs typeface="EB Garamond"/>
                <a:sym typeface="EB Garamond"/>
              </a:endParaRPr>
            </a:p>
            <a:p>
              <a:pPr indent="0" lvl="0" marL="0" rtl="0" algn="l">
                <a:lnSpc>
                  <a:spcPct val="100000"/>
                </a:lnSpc>
                <a:spcBef>
                  <a:spcPts val="0"/>
                </a:spcBef>
                <a:spcAft>
                  <a:spcPts val="0"/>
                </a:spcAft>
                <a:buNone/>
              </a:pPr>
              <a:r>
                <a:t/>
              </a:r>
              <a:endParaRPr sz="1100">
                <a:solidFill>
                  <a:srgbClr val="495057"/>
                </a:solidFill>
                <a:latin typeface="EB Garamond"/>
                <a:ea typeface="EB Garamond"/>
                <a:cs typeface="EB Garamond"/>
                <a:sym typeface="EB Garamond"/>
              </a:endParaRPr>
            </a:p>
          </p:txBody>
        </p:sp>
      </p:grpSp>
      <p:grpSp>
        <p:nvGrpSpPr>
          <p:cNvPr id="149" name="Google Shape;149;p19"/>
          <p:cNvGrpSpPr/>
          <p:nvPr/>
        </p:nvGrpSpPr>
        <p:grpSpPr>
          <a:xfrm>
            <a:off x="2076450" y="1714500"/>
            <a:ext cx="1562100" cy="2667000"/>
            <a:chOff x="2076450" y="1714500"/>
            <a:chExt cx="1562100" cy="2667000"/>
          </a:xfrm>
        </p:grpSpPr>
        <p:sp>
          <p:nvSpPr>
            <p:cNvPr id="150" name="Google Shape;150;p19"/>
            <p:cNvSpPr/>
            <p:nvPr/>
          </p:nvSpPr>
          <p:spPr>
            <a:xfrm>
              <a:off x="2076450" y="1714500"/>
              <a:ext cx="1562100" cy="2667000"/>
            </a:xfrm>
            <a:prstGeom prst="roundRect">
              <a:avLst>
                <a:gd fmla="val 731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9"/>
            <p:cNvSpPr/>
            <p:nvPr/>
          </p:nvSpPr>
          <p:spPr>
            <a:xfrm>
              <a:off x="2219325" y="1857375"/>
              <a:ext cx="762000" cy="209700"/>
            </a:xfrm>
            <a:prstGeom prst="roundRect">
              <a:avLst>
                <a:gd fmla="val 18181"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9"/>
            <p:cNvSpPr txBox="1"/>
            <p:nvPr/>
          </p:nvSpPr>
          <p:spPr>
            <a:xfrm>
              <a:off x="2219325" y="1857375"/>
              <a:ext cx="762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Classical</a:t>
              </a:r>
              <a:endParaRPr b="1" sz="900">
                <a:solidFill>
                  <a:srgbClr val="FFFFFF"/>
                </a:solidFill>
                <a:latin typeface="EB Garamond"/>
                <a:ea typeface="EB Garamond"/>
                <a:cs typeface="EB Garamond"/>
                <a:sym typeface="EB Garamond"/>
              </a:endParaRPr>
            </a:p>
          </p:txBody>
        </p:sp>
        <p:sp>
          <p:nvSpPr>
            <p:cNvPr id="153" name="Google Shape;153;p19"/>
            <p:cNvSpPr txBox="1"/>
            <p:nvPr/>
          </p:nvSpPr>
          <p:spPr>
            <a:xfrm>
              <a:off x="2219325" y="2209800"/>
              <a:ext cx="1276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31394D"/>
                  </a:solidFill>
                  <a:latin typeface="EB Garamond"/>
                  <a:ea typeface="EB Garamond"/>
                  <a:cs typeface="EB Garamond"/>
                  <a:sym typeface="EB Garamond"/>
                </a:rPr>
                <a:t>Isolation Forest</a:t>
              </a:r>
              <a:endParaRPr b="1" sz="1300">
                <a:solidFill>
                  <a:srgbClr val="31394D"/>
                </a:solidFill>
                <a:latin typeface="EB Garamond"/>
                <a:ea typeface="EB Garamond"/>
                <a:cs typeface="EB Garamond"/>
                <a:sym typeface="EB Garamond"/>
              </a:endParaRPr>
            </a:p>
          </p:txBody>
        </p:sp>
        <p:sp>
          <p:nvSpPr>
            <p:cNvPr id="154" name="Google Shape;154;p19"/>
            <p:cNvSpPr txBox="1"/>
            <p:nvPr/>
          </p:nvSpPr>
          <p:spPr>
            <a:xfrm>
              <a:off x="2219325" y="2571750"/>
              <a:ext cx="1276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000">
                  <a:solidFill>
                    <a:srgbClr val="495057"/>
                  </a:solidFill>
                  <a:latin typeface="EB Garamond"/>
                  <a:ea typeface="EB Garamond"/>
                  <a:cs typeface="EB Garamond"/>
                  <a:sym typeface="EB Garamond"/>
                </a:rPr>
                <a:t>• </a:t>
              </a:r>
              <a:r>
                <a:rPr b="1" lang="it" sz="1000">
                  <a:solidFill>
                    <a:srgbClr val="252B3A"/>
                  </a:solidFill>
                  <a:latin typeface="EB Garamond"/>
                  <a:ea typeface="EB Garamond"/>
                  <a:cs typeface="EB Garamond"/>
                  <a:sym typeface="EB Garamond"/>
                </a:rPr>
                <a:t>Non-neural</a:t>
              </a:r>
              <a:r>
                <a:rPr lang="it" sz="1000">
                  <a:solidFill>
                    <a:srgbClr val="495057"/>
                  </a:solidFill>
                  <a:latin typeface="EB Garamond"/>
                  <a:ea typeface="EB Garamond"/>
                  <a:cs typeface="EB Garamond"/>
                  <a:sym typeface="EB Garamond"/>
                </a:rPr>
                <a:t> classical anomaly detector.</a:t>
              </a:r>
              <a:endParaRPr sz="1000">
                <a:solidFill>
                  <a:srgbClr val="495057"/>
                </a:solidFill>
                <a:latin typeface="EB Garamond"/>
                <a:ea typeface="EB Garamond"/>
                <a:cs typeface="EB Garamond"/>
                <a:sym typeface="EB Garamond"/>
              </a:endParaRPr>
            </a:p>
            <a:p>
              <a:pPr indent="0" lvl="0" marL="0" rtl="0" algn="l">
                <a:spcBef>
                  <a:spcPts val="450"/>
                </a:spcBef>
                <a:spcAft>
                  <a:spcPts val="0"/>
                </a:spcAft>
                <a:buNone/>
              </a:pPr>
              <a:r>
                <a:rPr lang="it" sz="1000">
                  <a:solidFill>
                    <a:srgbClr val="495057"/>
                  </a:solidFill>
                  <a:latin typeface="EB Garamond"/>
                  <a:ea typeface="EB Garamond"/>
                  <a:cs typeface="EB Garamond"/>
                  <a:sym typeface="EB Garamond"/>
                </a:rPr>
                <a:t>• </a:t>
              </a:r>
              <a:r>
                <a:rPr lang="it" sz="1000">
                  <a:solidFill>
                    <a:srgbClr val="495057"/>
                  </a:solidFill>
                  <a:latin typeface="EB Garamond"/>
                  <a:ea typeface="EB Garamond"/>
                  <a:cs typeface="EB Garamond"/>
                  <a:sym typeface="EB Garamond"/>
                </a:rPr>
                <a:t>Uses </a:t>
              </a:r>
              <a:r>
                <a:rPr b="1" lang="it" sz="1000">
                  <a:solidFill>
                    <a:srgbClr val="495057"/>
                  </a:solidFill>
                  <a:latin typeface="EB Garamond"/>
                  <a:ea typeface="EB Garamond"/>
                  <a:cs typeface="EB Garamond"/>
                  <a:sym typeface="EB Garamond"/>
                </a:rPr>
                <a:t>7 </a:t>
              </a:r>
              <a:r>
                <a:rPr b="1" lang="it" sz="1000">
                  <a:solidFill>
                    <a:srgbClr val="252B3A"/>
                  </a:solidFill>
                  <a:latin typeface="EB Garamond"/>
                  <a:ea typeface="EB Garamond"/>
                  <a:cs typeface="EB Garamond"/>
                  <a:sym typeface="EB Garamond"/>
                </a:rPr>
                <a:t>statistical features</a:t>
              </a:r>
              <a:r>
                <a:rPr lang="it" sz="1000">
                  <a:solidFill>
                    <a:srgbClr val="495057"/>
                  </a:solidFill>
                  <a:latin typeface="EB Garamond"/>
                  <a:ea typeface="EB Garamond"/>
                  <a:cs typeface="EB Garamond"/>
                  <a:sym typeface="EB Garamond"/>
                </a:rPr>
                <a:t> (mean, std, min, max, energy, </a:t>
              </a:r>
              <a:r>
                <a:rPr lang="it" sz="1000">
                  <a:solidFill>
                    <a:srgbClr val="495057"/>
                  </a:solidFill>
                  <a:latin typeface="EB Garamond"/>
                  <a:ea typeface="EB Garamond"/>
                  <a:cs typeface="EB Garamond"/>
                  <a:sym typeface="EB Garamond"/>
                </a:rPr>
                <a:t>mean of temporal differences and std of temporal differences</a:t>
              </a:r>
              <a:r>
                <a:rPr lang="it" sz="1000">
                  <a:solidFill>
                    <a:srgbClr val="495057"/>
                  </a:solidFill>
                  <a:latin typeface="EB Garamond"/>
                  <a:ea typeface="EB Garamond"/>
                  <a:cs typeface="EB Garamond"/>
                  <a:sym typeface="EB Garamond"/>
                </a:rPr>
                <a:t>).</a:t>
              </a:r>
              <a:endParaRPr sz="1000">
                <a:solidFill>
                  <a:srgbClr val="495057"/>
                </a:solidFill>
                <a:latin typeface="EB Garamond"/>
                <a:ea typeface="EB Garamond"/>
                <a:cs typeface="EB Garamond"/>
                <a:sym typeface="EB Garamond"/>
              </a:endParaRPr>
            </a:p>
            <a:p>
              <a:pPr indent="0" lvl="0" marL="0" rtl="0" algn="l">
                <a:spcBef>
                  <a:spcPts val="450"/>
                </a:spcBef>
                <a:spcAft>
                  <a:spcPts val="450"/>
                </a:spcAft>
                <a:buNone/>
              </a:pPr>
              <a:r>
                <a:rPr lang="it" sz="1000">
                  <a:solidFill>
                    <a:srgbClr val="495057"/>
                  </a:solidFill>
                  <a:latin typeface="EB Garamond"/>
                  <a:ea typeface="EB Garamond"/>
                  <a:cs typeface="EB Garamond"/>
                  <a:sym typeface="EB Garamond"/>
                </a:rPr>
                <a:t>• </a:t>
              </a:r>
              <a:r>
                <a:rPr b="1" lang="it" sz="1000">
                  <a:solidFill>
                    <a:srgbClr val="252B3A"/>
                  </a:solidFill>
                  <a:latin typeface="EB Garamond"/>
                  <a:ea typeface="EB Garamond"/>
                  <a:cs typeface="EB Garamond"/>
                  <a:sym typeface="EB Garamond"/>
                </a:rPr>
                <a:t>contamination = ‘auto’</a:t>
              </a:r>
              <a:endParaRPr b="1" sz="1000">
                <a:solidFill>
                  <a:srgbClr val="495057"/>
                </a:solidFill>
                <a:latin typeface="EB Garamond"/>
                <a:ea typeface="EB Garamond"/>
                <a:cs typeface="EB Garamond"/>
                <a:sym typeface="EB Garamond"/>
              </a:endParaRPr>
            </a:p>
          </p:txBody>
        </p:sp>
      </p:grpSp>
      <p:grpSp>
        <p:nvGrpSpPr>
          <p:cNvPr id="155" name="Google Shape;155;p19"/>
          <p:cNvGrpSpPr/>
          <p:nvPr/>
        </p:nvGrpSpPr>
        <p:grpSpPr>
          <a:xfrm>
            <a:off x="3771900" y="1714500"/>
            <a:ext cx="1562100" cy="2667000"/>
            <a:chOff x="3771900" y="1714500"/>
            <a:chExt cx="1562100" cy="2667000"/>
          </a:xfrm>
        </p:grpSpPr>
        <p:sp>
          <p:nvSpPr>
            <p:cNvPr id="156" name="Google Shape;156;p19"/>
            <p:cNvSpPr/>
            <p:nvPr/>
          </p:nvSpPr>
          <p:spPr>
            <a:xfrm>
              <a:off x="3771900" y="1714500"/>
              <a:ext cx="1562100" cy="2667000"/>
            </a:xfrm>
            <a:prstGeom prst="roundRect">
              <a:avLst>
                <a:gd fmla="val 731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9"/>
            <p:cNvSpPr/>
            <p:nvPr/>
          </p:nvSpPr>
          <p:spPr>
            <a:xfrm>
              <a:off x="3914775" y="1857375"/>
              <a:ext cx="762000" cy="209700"/>
            </a:xfrm>
            <a:prstGeom prst="roundRect">
              <a:avLst>
                <a:gd fmla="val 18181"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9"/>
            <p:cNvSpPr txBox="1"/>
            <p:nvPr/>
          </p:nvSpPr>
          <p:spPr>
            <a:xfrm>
              <a:off x="3914775" y="1857375"/>
              <a:ext cx="762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Neural</a:t>
              </a:r>
              <a:endParaRPr b="1" sz="900">
                <a:solidFill>
                  <a:srgbClr val="FFFFFF"/>
                </a:solidFill>
                <a:latin typeface="EB Garamond"/>
                <a:ea typeface="EB Garamond"/>
                <a:cs typeface="EB Garamond"/>
                <a:sym typeface="EB Garamond"/>
              </a:endParaRPr>
            </a:p>
          </p:txBody>
        </p:sp>
        <p:sp>
          <p:nvSpPr>
            <p:cNvPr id="159" name="Google Shape;159;p19"/>
            <p:cNvSpPr txBox="1"/>
            <p:nvPr/>
          </p:nvSpPr>
          <p:spPr>
            <a:xfrm>
              <a:off x="3914775" y="2209800"/>
              <a:ext cx="1276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31394D"/>
                  </a:solidFill>
                  <a:latin typeface="EB Garamond"/>
                  <a:ea typeface="EB Garamond"/>
                  <a:cs typeface="EB Garamond"/>
                  <a:sym typeface="EB Garamond"/>
                </a:rPr>
                <a:t>MLP AE</a:t>
              </a:r>
              <a:endParaRPr b="1" sz="1300">
                <a:solidFill>
                  <a:srgbClr val="31394D"/>
                </a:solidFill>
                <a:latin typeface="EB Garamond"/>
                <a:ea typeface="EB Garamond"/>
                <a:cs typeface="EB Garamond"/>
                <a:sym typeface="EB Garamond"/>
              </a:endParaRPr>
            </a:p>
          </p:txBody>
        </p:sp>
        <p:sp>
          <p:nvSpPr>
            <p:cNvPr id="160" name="Google Shape;160;p19"/>
            <p:cNvSpPr txBox="1"/>
            <p:nvPr/>
          </p:nvSpPr>
          <p:spPr>
            <a:xfrm>
              <a:off x="3914775" y="2571750"/>
              <a:ext cx="1276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000">
                  <a:solidFill>
                    <a:srgbClr val="495057"/>
                  </a:solidFill>
                  <a:latin typeface="EB Garamond"/>
                  <a:ea typeface="EB Garamond"/>
                  <a:cs typeface="EB Garamond"/>
                  <a:sym typeface="EB Garamond"/>
                </a:rPr>
                <a:t>• Standard </a:t>
              </a:r>
              <a:r>
                <a:rPr b="1" lang="it" sz="1000">
                  <a:solidFill>
                    <a:srgbClr val="252B3A"/>
                  </a:solidFill>
                  <a:latin typeface="EB Garamond"/>
                  <a:ea typeface="EB Garamond"/>
                  <a:cs typeface="EB Garamond"/>
                  <a:sym typeface="EB Garamond"/>
                </a:rPr>
                <a:t>Autoencoder</a:t>
              </a:r>
              <a:r>
                <a:rPr lang="it" sz="1000">
                  <a:solidFill>
                    <a:srgbClr val="495057"/>
                  </a:solidFill>
                  <a:latin typeface="EB Garamond"/>
                  <a:ea typeface="EB Garamond"/>
                  <a:cs typeface="EB Garamond"/>
                  <a:sym typeface="EB Garamond"/>
                </a:rPr>
                <a:t>.</a:t>
              </a:r>
              <a:endParaRPr sz="1000">
                <a:solidFill>
                  <a:srgbClr val="495057"/>
                </a:solidFill>
                <a:latin typeface="EB Garamond"/>
                <a:ea typeface="EB Garamond"/>
                <a:cs typeface="EB Garamond"/>
                <a:sym typeface="EB Garamond"/>
              </a:endParaRPr>
            </a:p>
            <a:p>
              <a:pPr indent="0" lvl="0" marL="0" rtl="0" algn="l">
                <a:spcBef>
                  <a:spcPts val="450"/>
                </a:spcBef>
                <a:spcAft>
                  <a:spcPts val="0"/>
                </a:spcAft>
                <a:buNone/>
              </a:pPr>
              <a:r>
                <a:rPr lang="it" sz="1000">
                  <a:solidFill>
                    <a:srgbClr val="495057"/>
                  </a:solidFill>
                  <a:latin typeface="EB Garamond"/>
                  <a:ea typeface="EB Garamond"/>
                  <a:cs typeface="EB Garamond"/>
                  <a:sym typeface="EB Garamond"/>
                </a:rPr>
                <a:t>• Hidden layers of </a:t>
              </a:r>
              <a:r>
                <a:rPr b="1" lang="it" sz="1000">
                  <a:solidFill>
                    <a:srgbClr val="252B3A"/>
                  </a:solidFill>
                  <a:latin typeface="EB Garamond"/>
                  <a:ea typeface="EB Garamond"/>
                  <a:cs typeface="EB Garamond"/>
                  <a:sym typeface="EB Garamond"/>
                </a:rPr>
                <a:t>256 and 128</a:t>
              </a:r>
              <a:r>
                <a:rPr lang="it" sz="1000">
                  <a:solidFill>
                    <a:srgbClr val="495057"/>
                  </a:solidFill>
                  <a:latin typeface="EB Garamond"/>
                  <a:ea typeface="EB Garamond"/>
                  <a:cs typeface="EB Garamond"/>
                  <a:sym typeface="EB Garamond"/>
                </a:rPr>
                <a:t> units.</a:t>
              </a:r>
              <a:endParaRPr sz="1000">
                <a:solidFill>
                  <a:srgbClr val="495057"/>
                </a:solidFill>
                <a:latin typeface="EB Garamond"/>
                <a:ea typeface="EB Garamond"/>
                <a:cs typeface="EB Garamond"/>
                <a:sym typeface="EB Garamond"/>
              </a:endParaRPr>
            </a:p>
            <a:p>
              <a:pPr indent="0" lvl="0" marL="0" rtl="0" algn="l">
                <a:spcBef>
                  <a:spcPts val="450"/>
                </a:spcBef>
                <a:spcAft>
                  <a:spcPts val="0"/>
                </a:spcAft>
                <a:buNone/>
              </a:pPr>
              <a:r>
                <a:rPr lang="it" sz="1000">
                  <a:solidFill>
                    <a:srgbClr val="495057"/>
                  </a:solidFill>
                  <a:latin typeface="EB Garamond"/>
                  <a:ea typeface="EB Garamond"/>
                  <a:cs typeface="EB Garamond"/>
                  <a:sym typeface="EB Garamond"/>
                </a:rPr>
                <a:t>• Latent dimension bottleneck set to </a:t>
              </a:r>
              <a:r>
                <a:rPr b="1" lang="it" sz="1000">
                  <a:solidFill>
                    <a:srgbClr val="252B3A"/>
                  </a:solidFill>
                  <a:latin typeface="EB Garamond"/>
                  <a:ea typeface="EB Garamond"/>
                  <a:cs typeface="EB Garamond"/>
                  <a:sym typeface="EB Garamond"/>
                </a:rPr>
                <a:t>16</a:t>
              </a:r>
              <a:r>
                <a:rPr lang="it" sz="1000">
                  <a:solidFill>
                    <a:srgbClr val="495057"/>
                  </a:solidFill>
                  <a:latin typeface="EB Garamond"/>
                  <a:ea typeface="EB Garamond"/>
                  <a:cs typeface="EB Garamond"/>
                  <a:sym typeface="EB Garamond"/>
                </a:rPr>
                <a:t>.</a:t>
              </a:r>
              <a:endParaRPr sz="1000">
                <a:solidFill>
                  <a:srgbClr val="495057"/>
                </a:solidFill>
                <a:latin typeface="EB Garamond"/>
                <a:ea typeface="EB Garamond"/>
                <a:cs typeface="EB Garamond"/>
                <a:sym typeface="EB Garamond"/>
              </a:endParaRPr>
            </a:p>
            <a:p>
              <a:pPr indent="0" lvl="0" marL="0" rtl="0" algn="l">
                <a:spcBef>
                  <a:spcPts val="450"/>
                </a:spcBef>
                <a:spcAft>
                  <a:spcPts val="0"/>
                </a:spcAft>
                <a:buNone/>
              </a:pPr>
              <a:r>
                <a:t/>
              </a:r>
              <a:endParaRPr sz="1000">
                <a:solidFill>
                  <a:srgbClr val="495057"/>
                </a:solidFill>
                <a:latin typeface="EB Garamond"/>
                <a:ea typeface="EB Garamond"/>
                <a:cs typeface="EB Garamond"/>
                <a:sym typeface="EB Garamond"/>
              </a:endParaRPr>
            </a:p>
          </p:txBody>
        </p:sp>
      </p:grpSp>
      <p:grpSp>
        <p:nvGrpSpPr>
          <p:cNvPr id="161" name="Google Shape;161;p19"/>
          <p:cNvGrpSpPr/>
          <p:nvPr/>
        </p:nvGrpSpPr>
        <p:grpSpPr>
          <a:xfrm>
            <a:off x="5467350" y="1714500"/>
            <a:ext cx="1562100" cy="2667000"/>
            <a:chOff x="5467350" y="1714500"/>
            <a:chExt cx="1562100" cy="2667000"/>
          </a:xfrm>
        </p:grpSpPr>
        <p:sp>
          <p:nvSpPr>
            <p:cNvPr id="162" name="Google Shape;162;p19"/>
            <p:cNvSpPr/>
            <p:nvPr/>
          </p:nvSpPr>
          <p:spPr>
            <a:xfrm>
              <a:off x="5467350" y="1714500"/>
              <a:ext cx="1562100" cy="2667000"/>
            </a:xfrm>
            <a:prstGeom prst="roundRect">
              <a:avLst>
                <a:gd fmla="val 731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9"/>
            <p:cNvSpPr/>
            <p:nvPr/>
          </p:nvSpPr>
          <p:spPr>
            <a:xfrm>
              <a:off x="5610225" y="1857375"/>
              <a:ext cx="762000" cy="209700"/>
            </a:xfrm>
            <a:prstGeom prst="roundRect">
              <a:avLst>
                <a:gd fmla="val 18181"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9"/>
            <p:cNvSpPr txBox="1"/>
            <p:nvPr/>
          </p:nvSpPr>
          <p:spPr>
            <a:xfrm>
              <a:off x="5610225" y="1857375"/>
              <a:ext cx="762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Neural</a:t>
              </a:r>
              <a:endParaRPr b="1" sz="900">
                <a:solidFill>
                  <a:srgbClr val="FFFFFF"/>
                </a:solidFill>
                <a:latin typeface="EB Garamond"/>
                <a:ea typeface="EB Garamond"/>
                <a:cs typeface="EB Garamond"/>
                <a:sym typeface="EB Garamond"/>
              </a:endParaRPr>
            </a:p>
          </p:txBody>
        </p:sp>
        <p:sp>
          <p:nvSpPr>
            <p:cNvPr id="165" name="Google Shape;165;p19"/>
            <p:cNvSpPr txBox="1"/>
            <p:nvPr/>
          </p:nvSpPr>
          <p:spPr>
            <a:xfrm>
              <a:off x="5610225" y="2209800"/>
              <a:ext cx="1276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31394D"/>
                  </a:solidFill>
                  <a:latin typeface="EB Garamond"/>
                  <a:ea typeface="EB Garamond"/>
                  <a:cs typeface="EB Garamond"/>
                  <a:sym typeface="EB Garamond"/>
                </a:rPr>
                <a:t>Conv1D AE</a:t>
              </a:r>
              <a:endParaRPr b="1" sz="1300">
                <a:solidFill>
                  <a:srgbClr val="31394D"/>
                </a:solidFill>
                <a:latin typeface="EB Garamond"/>
                <a:ea typeface="EB Garamond"/>
                <a:cs typeface="EB Garamond"/>
                <a:sym typeface="EB Garamond"/>
              </a:endParaRPr>
            </a:p>
          </p:txBody>
        </p:sp>
        <p:sp>
          <p:nvSpPr>
            <p:cNvPr id="166" name="Google Shape;166;p19"/>
            <p:cNvSpPr txBox="1"/>
            <p:nvPr/>
          </p:nvSpPr>
          <p:spPr>
            <a:xfrm>
              <a:off x="5610225" y="2571750"/>
              <a:ext cx="1276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000">
                  <a:solidFill>
                    <a:srgbClr val="495057"/>
                  </a:solidFill>
                  <a:latin typeface="EB Garamond"/>
                  <a:ea typeface="EB Garamond"/>
                  <a:cs typeface="EB Garamond"/>
                  <a:sym typeface="EB Garamond"/>
                </a:rPr>
                <a:t>• </a:t>
              </a:r>
              <a:r>
                <a:rPr b="1" lang="it" sz="1000">
                  <a:solidFill>
                    <a:srgbClr val="252B3A"/>
                  </a:solidFill>
                  <a:latin typeface="EB Garamond"/>
                  <a:ea typeface="EB Garamond"/>
                  <a:cs typeface="EB Garamond"/>
                  <a:sym typeface="EB Garamond"/>
                </a:rPr>
                <a:t>Convolutional Autoencoder</a:t>
              </a:r>
              <a:r>
                <a:rPr lang="it" sz="1000">
                  <a:solidFill>
                    <a:srgbClr val="495057"/>
                  </a:solidFill>
                  <a:latin typeface="EB Garamond"/>
                  <a:ea typeface="EB Garamond"/>
                  <a:cs typeface="EB Garamond"/>
                  <a:sym typeface="EB Garamond"/>
                </a:rPr>
                <a:t> architecture.</a:t>
              </a:r>
              <a:endParaRPr sz="1000">
                <a:solidFill>
                  <a:srgbClr val="495057"/>
                </a:solidFill>
                <a:latin typeface="EB Garamond"/>
                <a:ea typeface="EB Garamond"/>
                <a:cs typeface="EB Garamond"/>
                <a:sym typeface="EB Garamond"/>
              </a:endParaRPr>
            </a:p>
            <a:p>
              <a:pPr indent="0" lvl="0" marL="0" rtl="0" algn="l">
                <a:spcBef>
                  <a:spcPts val="450"/>
                </a:spcBef>
                <a:spcAft>
                  <a:spcPts val="0"/>
                </a:spcAft>
                <a:buNone/>
              </a:pPr>
              <a:r>
                <a:rPr lang="it" sz="1000">
                  <a:solidFill>
                    <a:srgbClr val="495057"/>
                  </a:solidFill>
                  <a:latin typeface="EB Garamond"/>
                  <a:ea typeface="EB Garamond"/>
                  <a:cs typeface="EB Garamond"/>
                  <a:sym typeface="EB Garamond"/>
                </a:rPr>
                <a:t>• Arranges input as [channels, time].</a:t>
              </a:r>
              <a:endParaRPr sz="1000">
                <a:solidFill>
                  <a:srgbClr val="495057"/>
                </a:solidFill>
                <a:latin typeface="EB Garamond"/>
                <a:ea typeface="EB Garamond"/>
                <a:cs typeface="EB Garamond"/>
                <a:sym typeface="EB Garamond"/>
              </a:endParaRPr>
            </a:p>
            <a:p>
              <a:pPr indent="0" lvl="0" marL="0" rtl="0" algn="l">
                <a:spcBef>
                  <a:spcPts val="450"/>
                </a:spcBef>
                <a:spcAft>
                  <a:spcPts val="450"/>
                </a:spcAft>
                <a:buNone/>
              </a:pPr>
              <a:r>
                <a:rPr lang="it" sz="1000">
                  <a:solidFill>
                    <a:srgbClr val="495057"/>
                  </a:solidFill>
                  <a:latin typeface="EB Garamond"/>
                  <a:ea typeface="EB Garamond"/>
                  <a:cs typeface="EB Garamond"/>
                  <a:sym typeface="EB Garamond"/>
                </a:rPr>
                <a:t>• </a:t>
              </a:r>
              <a:r>
                <a:rPr b="1" lang="it" sz="1000">
                  <a:solidFill>
                    <a:srgbClr val="495057"/>
                  </a:solidFill>
                  <a:latin typeface="EB Garamond"/>
                  <a:ea typeface="EB Garamond"/>
                  <a:cs typeface="EB Garamond"/>
                  <a:sym typeface="EB Garamond"/>
                </a:rPr>
                <a:t>kernel_size = 5</a:t>
              </a:r>
              <a:endParaRPr b="1" sz="1000">
                <a:solidFill>
                  <a:srgbClr val="495057"/>
                </a:solidFill>
                <a:latin typeface="EB Garamond"/>
                <a:ea typeface="EB Garamond"/>
                <a:cs typeface="EB Garamond"/>
                <a:sym typeface="EB Garamond"/>
              </a:endParaRPr>
            </a:p>
          </p:txBody>
        </p:sp>
      </p:grpSp>
      <p:grpSp>
        <p:nvGrpSpPr>
          <p:cNvPr id="167" name="Google Shape;167;p19"/>
          <p:cNvGrpSpPr/>
          <p:nvPr/>
        </p:nvGrpSpPr>
        <p:grpSpPr>
          <a:xfrm>
            <a:off x="7162800" y="1714500"/>
            <a:ext cx="1562100" cy="2667000"/>
            <a:chOff x="7162800" y="1714500"/>
            <a:chExt cx="1562100" cy="2667000"/>
          </a:xfrm>
        </p:grpSpPr>
        <p:sp>
          <p:nvSpPr>
            <p:cNvPr id="168" name="Google Shape;168;p19"/>
            <p:cNvSpPr/>
            <p:nvPr/>
          </p:nvSpPr>
          <p:spPr>
            <a:xfrm>
              <a:off x="7162800" y="1714500"/>
              <a:ext cx="1562100" cy="2667000"/>
            </a:xfrm>
            <a:prstGeom prst="roundRect">
              <a:avLst>
                <a:gd fmla="val 731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p:nvPr/>
          </p:nvSpPr>
          <p:spPr>
            <a:xfrm>
              <a:off x="7305675" y="1857375"/>
              <a:ext cx="762000" cy="209700"/>
            </a:xfrm>
            <a:prstGeom prst="roundRect">
              <a:avLst>
                <a:gd fmla="val 18181"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9"/>
            <p:cNvSpPr txBox="1"/>
            <p:nvPr/>
          </p:nvSpPr>
          <p:spPr>
            <a:xfrm>
              <a:off x="7305675" y="1857375"/>
              <a:ext cx="762000" cy="2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EB Garamond"/>
                  <a:ea typeface="EB Garamond"/>
                  <a:cs typeface="EB Garamond"/>
                  <a:sym typeface="EB Garamond"/>
                </a:rPr>
                <a:t>Adversarial</a:t>
              </a:r>
              <a:endParaRPr b="1" sz="900">
                <a:solidFill>
                  <a:srgbClr val="FFFFFF"/>
                </a:solidFill>
                <a:latin typeface="EB Garamond"/>
                <a:ea typeface="EB Garamond"/>
                <a:cs typeface="EB Garamond"/>
                <a:sym typeface="EB Garamond"/>
              </a:endParaRPr>
            </a:p>
          </p:txBody>
        </p:sp>
        <p:sp>
          <p:nvSpPr>
            <p:cNvPr id="171" name="Google Shape;171;p19"/>
            <p:cNvSpPr txBox="1"/>
            <p:nvPr/>
          </p:nvSpPr>
          <p:spPr>
            <a:xfrm>
              <a:off x="7305675" y="2209800"/>
              <a:ext cx="1276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300">
                  <a:solidFill>
                    <a:srgbClr val="31394D"/>
                  </a:solidFill>
                  <a:latin typeface="EB Garamond"/>
                  <a:ea typeface="EB Garamond"/>
                  <a:cs typeface="EB Garamond"/>
                  <a:sym typeface="EB Garamond"/>
                </a:rPr>
                <a:t>AAE MLP</a:t>
              </a:r>
              <a:endParaRPr b="1" sz="1300">
                <a:solidFill>
                  <a:srgbClr val="31394D"/>
                </a:solidFill>
                <a:latin typeface="EB Garamond"/>
                <a:ea typeface="EB Garamond"/>
                <a:cs typeface="EB Garamond"/>
                <a:sym typeface="EB Garamond"/>
              </a:endParaRPr>
            </a:p>
          </p:txBody>
        </p:sp>
        <p:sp>
          <p:nvSpPr>
            <p:cNvPr id="172" name="Google Shape;172;p19"/>
            <p:cNvSpPr txBox="1"/>
            <p:nvPr/>
          </p:nvSpPr>
          <p:spPr>
            <a:xfrm>
              <a:off x="7305675" y="2571750"/>
              <a:ext cx="1276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sz="1000">
                  <a:solidFill>
                    <a:srgbClr val="495057"/>
                  </a:solidFill>
                  <a:latin typeface="EB Garamond"/>
                  <a:ea typeface="EB Garamond"/>
                  <a:cs typeface="EB Garamond"/>
                  <a:sym typeface="EB Garamond"/>
                </a:rPr>
                <a:t>• </a:t>
              </a:r>
              <a:r>
                <a:rPr b="1" lang="it" sz="1000">
                  <a:solidFill>
                    <a:srgbClr val="252B3A"/>
                  </a:solidFill>
                  <a:latin typeface="EB Garamond"/>
                  <a:ea typeface="EB Garamond"/>
                  <a:cs typeface="EB Garamond"/>
                  <a:sym typeface="EB Garamond"/>
                </a:rPr>
                <a:t>Adversarial Autoencoder</a:t>
              </a:r>
              <a:r>
                <a:rPr lang="it" sz="1000">
                  <a:solidFill>
                    <a:srgbClr val="495057"/>
                  </a:solidFill>
                  <a:latin typeface="EB Garamond"/>
                  <a:ea typeface="EB Garamond"/>
                  <a:cs typeface="EB Garamond"/>
                  <a:sym typeface="EB Garamond"/>
                </a:rPr>
                <a:t> model.</a:t>
              </a:r>
              <a:endParaRPr sz="1000">
                <a:solidFill>
                  <a:srgbClr val="495057"/>
                </a:solidFill>
                <a:latin typeface="EB Garamond"/>
                <a:ea typeface="EB Garamond"/>
                <a:cs typeface="EB Garamond"/>
                <a:sym typeface="EB Garamond"/>
              </a:endParaRPr>
            </a:p>
            <a:p>
              <a:pPr indent="0" lvl="0" marL="0" rtl="0" algn="l">
                <a:spcBef>
                  <a:spcPts val="450"/>
                </a:spcBef>
                <a:spcAft>
                  <a:spcPts val="450"/>
                </a:spcAft>
                <a:buNone/>
              </a:pPr>
              <a:r>
                <a:rPr lang="it" sz="1000">
                  <a:solidFill>
                    <a:srgbClr val="495057"/>
                  </a:solidFill>
                  <a:latin typeface="EB Garamond"/>
                  <a:ea typeface="EB Garamond"/>
                  <a:cs typeface="EB Garamond"/>
                  <a:sym typeface="EB Garamond"/>
                </a:rPr>
                <a:t>• Adds a </a:t>
              </a:r>
              <a:r>
                <a:rPr b="1" lang="it" sz="1000">
                  <a:solidFill>
                    <a:srgbClr val="252B3A"/>
                  </a:solidFill>
                  <a:latin typeface="EB Garamond"/>
                  <a:ea typeface="EB Garamond"/>
                  <a:cs typeface="EB Garamond"/>
                  <a:sym typeface="EB Garamond"/>
                </a:rPr>
                <a:t>latent discriminator</a:t>
              </a:r>
              <a:r>
                <a:rPr lang="it" sz="1000">
                  <a:solidFill>
                    <a:srgbClr val="495057"/>
                  </a:solidFill>
                  <a:latin typeface="EB Garamond"/>
                  <a:ea typeface="EB Garamond"/>
                  <a:cs typeface="EB Garamond"/>
                  <a:sym typeface="EB Garamond"/>
                </a:rPr>
                <a:t> against N(0, I)</a:t>
              </a:r>
              <a:endParaRPr sz="1000">
                <a:solidFill>
                  <a:srgbClr val="495057"/>
                </a:solidFill>
                <a:latin typeface="EB Garamond"/>
                <a:ea typeface="EB Garamond"/>
                <a:cs typeface="EB Garamond"/>
                <a:sym typeface="EB Garamond"/>
              </a:endParaRPr>
            </a:p>
          </p:txBody>
        </p:sp>
      </p:grpSp>
      <p:sp>
        <p:nvSpPr>
          <p:cNvPr id="173" name="Google Shape;173;p1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p:nvPr/>
        </p:nvSpPr>
        <p:spPr>
          <a:xfrm>
            <a:off x="0" y="0"/>
            <a:ext cx="9144000" cy="10857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0"/>
          <p:cNvSpPr txBox="1"/>
          <p:nvPr/>
        </p:nvSpPr>
        <p:spPr>
          <a:xfrm>
            <a:off x="381000" y="259619"/>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2800">
                <a:solidFill>
                  <a:srgbClr val="FFFFFF"/>
                </a:solidFill>
                <a:latin typeface="Merriweather"/>
                <a:ea typeface="Merriweather"/>
                <a:cs typeface="Merriweather"/>
                <a:sym typeface="Merriweather"/>
              </a:rPr>
              <a:t>Training &amp; Evaluation Protocol</a:t>
            </a:r>
            <a:endParaRPr b="0" sz="2800">
              <a:solidFill>
                <a:srgbClr val="FFFFFF"/>
              </a:solidFill>
              <a:latin typeface="Merriweather"/>
              <a:ea typeface="Merriweather"/>
              <a:cs typeface="Merriweather"/>
              <a:sym typeface="Merriweather"/>
            </a:endParaRPr>
          </a:p>
        </p:txBody>
      </p:sp>
      <p:grpSp>
        <p:nvGrpSpPr>
          <p:cNvPr id="180" name="Google Shape;180;p20"/>
          <p:cNvGrpSpPr/>
          <p:nvPr/>
        </p:nvGrpSpPr>
        <p:grpSpPr>
          <a:xfrm>
            <a:off x="381000" y="1714500"/>
            <a:ext cx="3952800" cy="2809800"/>
            <a:chOff x="381000" y="1714500"/>
            <a:chExt cx="3952800" cy="2809800"/>
          </a:xfrm>
        </p:grpSpPr>
        <p:sp>
          <p:nvSpPr>
            <p:cNvPr id="181" name="Google Shape;181;p20"/>
            <p:cNvSpPr/>
            <p:nvPr/>
          </p:nvSpPr>
          <p:spPr>
            <a:xfrm>
              <a:off x="381000" y="1714500"/>
              <a:ext cx="3952800" cy="2809800"/>
            </a:xfrm>
            <a:prstGeom prst="roundRect">
              <a:avLst>
                <a:gd fmla="val 406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0"/>
            <p:cNvSpPr/>
            <p:nvPr/>
          </p:nvSpPr>
          <p:spPr>
            <a:xfrm>
              <a:off x="523875" y="1857375"/>
              <a:ext cx="1047900" cy="228600"/>
            </a:xfrm>
            <a:prstGeom prst="roundRect">
              <a:avLst>
                <a:gd fmla="val 16666"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txBox="1"/>
            <p:nvPr/>
          </p:nvSpPr>
          <p:spPr>
            <a:xfrm>
              <a:off x="523875" y="1857375"/>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Roboto"/>
                  <a:ea typeface="Roboto"/>
                  <a:cs typeface="Roboto"/>
                  <a:sym typeface="Roboto"/>
                </a:rPr>
                <a:t>Training</a:t>
              </a:r>
              <a:endParaRPr b="1" sz="900">
                <a:solidFill>
                  <a:srgbClr val="FFFFFF"/>
                </a:solidFill>
                <a:latin typeface="Roboto"/>
                <a:ea typeface="Roboto"/>
                <a:cs typeface="Roboto"/>
                <a:sym typeface="Roboto"/>
              </a:endParaRPr>
            </a:p>
          </p:txBody>
        </p:sp>
        <p:sp>
          <p:nvSpPr>
            <p:cNvPr id="184" name="Google Shape;184;p20"/>
            <p:cNvSpPr txBox="1"/>
            <p:nvPr/>
          </p:nvSpPr>
          <p:spPr>
            <a:xfrm>
              <a:off x="523875" y="2238375"/>
              <a:ext cx="3667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31394D"/>
                  </a:solidFill>
                  <a:latin typeface="EB Garamond"/>
                  <a:ea typeface="EB Garamond"/>
                  <a:cs typeface="EB Garamond"/>
                  <a:sym typeface="EB Garamond"/>
                </a:rPr>
                <a:t>Deep Model Optimization</a:t>
              </a:r>
              <a:endParaRPr b="1" sz="2000">
                <a:solidFill>
                  <a:srgbClr val="31394D"/>
                </a:solidFill>
                <a:latin typeface="EB Garamond"/>
                <a:ea typeface="EB Garamond"/>
                <a:cs typeface="EB Garamond"/>
                <a:sym typeface="EB Garamond"/>
              </a:endParaRPr>
            </a:p>
          </p:txBody>
        </p:sp>
        <p:sp>
          <p:nvSpPr>
            <p:cNvPr id="185" name="Google Shape;185;p20"/>
            <p:cNvSpPr txBox="1"/>
            <p:nvPr/>
          </p:nvSpPr>
          <p:spPr>
            <a:xfrm>
              <a:off x="523875" y="2619375"/>
              <a:ext cx="3667200" cy="1714500"/>
            </a:xfrm>
            <a:prstGeom prst="rect">
              <a:avLst/>
            </a:prstGeom>
            <a:noFill/>
            <a:ln>
              <a:noFill/>
            </a:ln>
          </p:spPr>
          <p:txBody>
            <a:bodyPr anchorCtr="0" anchor="ctr" bIns="0" lIns="0" spcFirstLastPara="1" rIns="0" wrap="square" tIns="0">
              <a:noAutofit/>
            </a:bodyPr>
            <a:lstStyle/>
            <a:p>
              <a:pPr indent="-319088" lvl="0" marL="457200" rtl="0" algn="l">
                <a:spcBef>
                  <a:spcPts val="0"/>
                </a:spcBef>
                <a:spcAft>
                  <a:spcPts val="0"/>
                </a:spcAft>
                <a:buClr>
                  <a:srgbClr val="495057"/>
                </a:buClr>
                <a:buSzPts val="1425"/>
                <a:buFont typeface="Roboto"/>
                <a:buChar char="●"/>
              </a:pPr>
              <a:r>
                <a:rPr b="1" lang="it" sz="1425">
                  <a:solidFill>
                    <a:srgbClr val="495057"/>
                  </a:solidFill>
                  <a:latin typeface="EB Garamond"/>
                  <a:ea typeface="EB Garamond"/>
                  <a:cs typeface="EB Garamond"/>
                  <a:sym typeface="EB Garamond"/>
                </a:rPr>
                <a:t>Official Configuration:</a:t>
              </a:r>
              <a:r>
                <a:rPr lang="it" sz="1425">
                  <a:solidFill>
                    <a:srgbClr val="495057"/>
                  </a:solidFill>
                  <a:latin typeface="EB Garamond"/>
                  <a:ea typeface="EB Garamond"/>
                  <a:cs typeface="EB Garamond"/>
                  <a:sym typeface="EB Garamond"/>
                </a:rPr>
                <a:t> lr=1e-3 | batch_size=128 | weight_decay = 1e-5 | window length=64 | stride=16 | StandardScaler | MSE | seed=42</a:t>
              </a:r>
              <a:endParaRPr b="1" sz="1425">
                <a:solidFill>
                  <a:srgbClr val="495057"/>
                </a:solidFill>
                <a:latin typeface="EB Garamond"/>
                <a:ea typeface="EB Garamond"/>
                <a:cs typeface="EB Garamond"/>
                <a:sym typeface="EB Garamond"/>
              </a:endParaRPr>
            </a:p>
            <a:p>
              <a:pPr indent="-319088" lvl="0" marL="457200" rtl="0" algn="l">
                <a:spcBef>
                  <a:spcPts val="600"/>
                </a:spcBef>
                <a:spcAft>
                  <a:spcPts val="0"/>
                </a:spcAft>
                <a:buClr>
                  <a:srgbClr val="495057"/>
                </a:buClr>
                <a:buSzPts val="1425"/>
                <a:buFont typeface="Roboto"/>
                <a:buChar char="●"/>
              </a:pPr>
              <a:r>
                <a:rPr b="1" lang="it" sz="1425">
                  <a:solidFill>
                    <a:srgbClr val="495057"/>
                  </a:solidFill>
                  <a:latin typeface="EB Garamond"/>
                  <a:ea typeface="EB Garamond"/>
                  <a:cs typeface="EB Garamond"/>
                  <a:sym typeface="EB Garamond"/>
                </a:rPr>
                <a:t>Training </a:t>
              </a:r>
              <a:r>
                <a:rPr lang="it" sz="1425">
                  <a:solidFill>
                    <a:srgbClr val="495057"/>
                  </a:solidFill>
                  <a:latin typeface="EB Garamond"/>
                  <a:ea typeface="EB Garamond"/>
                  <a:cs typeface="EB Garamond"/>
                  <a:sym typeface="EB Garamond"/>
                </a:rPr>
                <a:t>is</a:t>
              </a:r>
              <a:r>
                <a:rPr b="1" lang="it" sz="1425">
                  <a:solidFill>
                    <a:srgbClr val="495057"/>
                  </a:solidFill>
                  <a:latin typeface="EB Garamond"/>
                  <a:ea typeface="EB Garamond"/>
                  <a:cs typeface="EB Garamond"/>
                  <a:sym typeface="EB Garamond"/>
                </a:rPr>
                <a:t> </a:t>
              </a:r>
              <a:r>
                <a:rPr lang="it" sz="1425">
                  <a:solidFill>
                    <a:srgbClr val="495057"/>
                  </a:solidFill>
                  <a:latin typeface="EB Garamond"/>
                  <a:ea typeface="EB Garamond"/>
                  <a:cs typeface="EB Garamond"/>
                  <a:sym typeface="EB Garamond"/>
                </a:rPr>
                <a:t>based exclusively </a:t>
              </a:r>
              <a:r>
                <a:rPr b="1" lang="it" sz="1425">
                  <a:solidFill>
                    <a:srgbClr val="495057"/>
                  </a:solidFill>
                  <a:latin typeface="EB Garamond"/>
                  <a:ea typeface="EB Garamond"/>
                  <a:cs typeface="EB Garamond"/>
                  <a:sym typeface="EB Garamond"/>
                </a:rPr>
                <a:t>on normal sequences</a:t>
              </a:r>
              <a:endParaRPr sz="1425">
                <a:solidFill>
                  <a:srgbClr val="495057"/>
                </a:solidFill>
                <a:latin typeface="EB Garamond"/>
                <a:ea typeface="EB Garamond"/>
                <a:cs typeface="EB Garamond"/>
                <a:sym typeface="EB Garamond"/>
              </a:endParaRPr>
            </a:p>
            <a:p>
              <a:pPr indent="0" lvl="0" marL="0" rtl="0" algn="l">
                <a:spcBef>
                  <a:spcPts val="600"/>
                </a:spcBef>
                <a:spcAft>
                  <a:spcPts val="600"/>
                </a:spcAft>
                <a:buNone/>
              </a:pPr>
              <a:r>
                <a:t/>
              </a:r>
              <a:endParaRPr sz="1425">
                <a:solidFill>
                  <a:srgbClr val="495057"/>
                </a:solidFill>
                <a:latin typeface="EB Garamond"/>
                <a:ea typeface="EB Garamond"/>
                <a:cs typeface="EB Garamond"/>
                <a:sym typeface="EB Garamond"/>
              </a:endParaRPr>
            </a:p>
          </p:txBody>
        </p:sp>
      </p:grpSp>
      <p:grpSp>
        <p:nvGrpSpPr>
          <p:cNvPr id="186" name="Google Shape;186;p20"/>
          <p:cNvGrpSpPr/>
          <p:nvPr/>
        </p:nvGrpSpPr>
        <p:grpSpPr>
          <a:xfrm>
            <a:off x="4810125" y="1714500"/>
            <a:ext cx="3952800" cy="2809800"/>
            <a:chOff x="4810125" y="1714500"/>
            <a:chExt cx="3952800" cy="2809800"/>
          </a:xfrm>
        </p:grpSpPr>
        <p:sp>
          <p:nvSpPr>
            <p:cNvPr id="187" name="Google Shape;187;p20"/>
            <p:cNvSpPr/>
            <p:nvPr/>
          </p:nvSpPr>
          <p:spPr>
            <a:xfrm>
              <a:off x="4810125" y="1714500"/>
              <a:ext cx="3952800" cy="2809800"/>
            </a:xfrm>
            <a:prstGeom prst="roundRect">
              <a:avLst>
                <a:gd fmla="val 4067" name="adj"/>
              </a:avLst>
            </a:prstGeom>
            <a:solidFill>
              <a:srgbClr val="FFFFFF"/>
            </a:solidFill>
            <a:ln cap="flat" cmpd="sng" w="9525">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20"/>
            <p:cNvSpPr/>
            <p:nvPr/>
          </p:nvSpPr>
          <p:spPr>
            <a:xfrm>
              <a:off x="4953000" y="1857375"/>
              <a:ext cx="1047900" cy="228600"/>
            </a:xfrm>
            <a:prstGeom prst="roundRect">
              <a:avLst>
                <a:gd fmla="val 16666" name="adj"/>
              </a:avLst>
            </a:prstGeom>
            <a:solidFill>
              <a:srgbClr val="313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4953000" y="1857375"/>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900">
                  <a:solidFill>
                    <a:srgbClr val="FFFFFF"/>
                  </a:solidFill>
                  <a:latin typeface="Roboto"/>
                  <a:ea typeface="Roboto"/>
                  <a:cs typeface="Roboto"/>
                  <a:sym typeface="Roboto"/>
                </a:rPr>
                <a:t>Evaluation</a:t>
              </a:r>
              <a:endParaRPr b="1" sz="900">
                <a:solidFill>
                  <a:srgbClr val="FFFFFF"/>
                </a:solidFill>
                <a:latin typeface="Roboto"/>
                <a:ea typeface="Roboto"/>
                <a:cs typeface="Roboto"/>
                <a:sym typeface="Roboto"/>
              </a:endParaRPr>
            </a:p>
          </p:txBody>
        </p:sp>
        <p:sp>
          <p:nvSpPr>
            <p:cNvPr id="190" name="Google Shape;190;p20"/>
            <p:cNvSpPr txBox="1"/>
            <p:nvPr/>
          </p:nvSpPr>
          <p:spPr>
            <a:xfrm>
              <a:off x="4953000" y="2238375"/>
              <a:ext cx="3667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2000">
                  <a:solidFill>
                    <a:srgbClr val="31394D"/>
                  </a:solidFill>
                  <a:latin typeface="EB Garamond"/>
                  <a:ea typeface="EB Garamond"/>
                  <a:cs typeface="EB Garamond"/>
                  <a:sym typeface="EB Garamond"/>
                </a:rPr>
                <a:t>Metrics &amp; Validation</a:t>
              </a:r>
              <a:endParaRPr b="1" sz="2000">
                <a:solidFill>
                  <a:srgbClr val="31394D"/>
                </a:solidFill>
                <a:latin typeface="EB Garamond"/>
                <a:ea typeface="EB Garamond"/>
                <a:cs typeface="EB Garamond"/>
                <a:sym typeface="EB Garamond"/>
              </a:endParaRPr>
            </a:p>
          </p:txBody>
        </p:sp>
        <p:sp>
          <p:nvSpPr>
            <p:cNvPr id="191" name="Google Shape;191;p20"/>
            <p:cNvSpPr txBox="1"/>
            <p:nvPr/>
          </p:nvSpPr>
          <p:spPr>
            <a:xfrm>
              <a:off x="4953000" y="2619375"/>
              <a:ext cx="3667200" cy="1714500"/>
            </a:xfrm>
            <a:prstGeom prst="rect">
              <a:avLst/>
            </a:prstGeom>
            <a:noFill/>
            <a:ln>
              <a:noFill/>
            </a:ln>
          </p:spPr>
          <p:txBody>
            <a:bodyPr anchorCtr="0" anchor="ctr" bIns="0" lIns="0" spcFirstLastPara="1" rIns="0" wrap="square" tIns="0">
              <a:noAutofit/>
            </a:bodyPr>
            <a:lstStyle/>
            <a:p>
              <a:pPr indent="-319088" lvl="0" marL="457200" rtl="0" algn="l">
                <a:spcBef>
                  <a:spcPts val="0"/>
                </a:spcBef>
                <a:spcAft>
                  <a:spcPts val="0"/>
                </a:spcAft>
                <a:buClr>
                  <a:srgbClr val="495057"/>
                </a:buClr>
                <a:buSzPts val="1425"/>
                <a:buFont typeface="Roboto"/>
                <a:buChar char="●"/>
              </a:pPr>
              <a:r>
                <a:rPr b="1" lang="it" sz="1425">
                  <a:solidFill>
                    <a:srgbClr val="495057"/>
                  </a:solidFill>
                  <a:latin typeface="EB Garamond"/>
                  <a:ea typeface="EB Garamond"/>
                  <a:cs typeface="EB Garamond"/>
                  <a:sym typeface="EB Garamond"/>
                </a:rPr>
                <a:t>Threshold-Free:</a:t>
              </a:r>
              <a:r>
                <a:rPr lang="it" sz="1425">
                  <a:solidFill>
                    <a:srgbClr val="495057"/>
                  </a:solidFill>
                  <a:latin typeface="EB Garamond"/>
                  <a:ea typeface="EB Garamond"/>
                  <a:cs typeface="EB Garamond"/>
                  <a:sym typeface="EB Garamond"/>
                </a:rPr>
                <a:t> </a:t>
              </a:r>
              <a:r>
                <a:rPr b="1" lang="it" sz="1425">
                  <a:solidFill>
                    <a:srgbClr val="495057"/>
                  </a:solidFill>
                  <a:latin typeface="EB Garamond"/>
                  <a:ea typeface="EB Garamond"/>
                  <a:cs typeface="EB Garamond"/>
                  <a:sym typeface="EB Garamond"/>
                </a:rPr>
                <a:t>ROC-AUC</a:t>
              </a:r>
              <a:r>
                <a:rPr lang="it" sz="1425">
                  <a:solidFill>
                    <a:srgbClr val="495057"/>
                  </a:solidFill>
                  <a:latin typeface="EB Garamond"/>
                  <a:ea typeface="EB Garamond"/>
                  <a:cs typeface="EB Garamond"/>
                  <a:sym typeface="EB Garamond"/>
                </a:rPr>
                <a:t>, </a:t>
              </a:r>
              <a:r>
                <a:rPr b="1" lang="it" sz="1425">
                  <a:solidFill>
                    <a:srgbClr val="495057"/>
                  </a:solidFill>
                  <a:latin typeface="EB Garamond"/>
                  <a:ea typeface="EB Garamond"/>
                  <a:cs typeface="EB Garamond"/>
                  <a:sym typeface="EB Garamond"/>
                </a:rPr>
                <a:t>PR-AUC</a:t>
              </a:r>
              <a:r>
                <a:rPr lang="it" sz="1425">
                  <a:solidFill>
                    <a:srgbClr val="495057"/>
                  </a:solidFill>
                  <a:latin typeface="EB Garamond"/>
                  <a:ea typeface="EB Garamond"/>
                  <a:cs typeface="EB Garamond"/>
                  <a:sym typeface="EB Garamond"/>
                </a:rPr>
                <a:t>.</a:t>
              </a:r>
              <a:endParaRPr sz="1425">
                <a:solidFill>
                  <a:srgbClr val="495057"/>
                </a:solidFill>
                <a:latin typeface="EB Garamond"/>
                <a:ea typeface="EB Garamond"/>
                <a:cs typeface="EB Garamond"/>
                <a:sym typeface="EB Garamond"/>
              </a:endParaRPr>
            </a:p>
            <a:p>
              <a:pPr indent="-319088" lvl="0" marL="457200" rtl="0" algn="l">
                <a:spcBef>
                  <a:spcPts val="600"/>
                </a:spcBef>
                <a:spcAft>
                  <a:spcPts val="0"/>
                </a:spcAft>
                <a:buClr>
                  <a:srgbClr val="495057"/>
                </a:buClr>
                <a:buSzPts val="1425"/>
                <a:buFont typeface="Roboto"/>
                <a:buChar char="●"/>
              </a:pPr>
              <a:r>
                <a:rPr b="1" lang="it" sz="1425">
                  <a:solidFill>
                    <a:srgbClr val="495057"/>
                  </a:solidFill>
                  <a:latin typeface="EB Garamond"/>
                  <a:ea typeface="EB Garamond"/>
                  <a:cs typeface="EB Garamond"/>
                  <a:sym typeface="EB Garamond"/>
                </a:rPr>
                <a:t>Threshold Selection:</a:t>
              </a:r>
              <a:r>
                <a:rPr lang="it" sz="1425">
                  <a:solidFill>
                    <a:srgbClr val="495057"/>
                  </a:solidFill>
                  <a:latin typeface="EB Garamond"/>
                  <a:ea typeface="EB Garamond"/>
                  <a:cs typeface="EB Garamond"/>
                  <a:sym typeface="EB Garamond"/>
                </a:rPr>
                <a:t> Best </a:t>
              </a:r>
              <a:r>
                <a:rPr b="1" lang="it" sz="1425">
                  <a:solidFill>
                    <a:srgbClr val="495057"/>
                  </a:solidFill>
                  <a:latin typeface="EB Garamond"/>
                  <a:ea typeface="EB Garamond"/>
                  <a:cs typeface="EB Garamond"/>
                  <a:sym typeface="EB Garamond"/>
                </a:rPr>
                <a:t>F1-Score</a:t>
              </a:r>
              <a:r>
                <a:rPr lang="it" sz="1425">
                  <a:solidFill>
                    <a:srgbClr val="495057"/>
                  </a:solidFill>
                  <a:latin typeface="EB Garamond"/>
                  <a:ea typeface="EB Garamond"/>
                  <a:cs typeface="EB Garamond"/>
                  <a:sym typeface="EB Garamond"/>
                </a:rPr>
                <a:t> calculated on validation</a:t>
              </a:r>
              <a:endParaRPr sz="1425">
                <a:solidFill>
                  <a:srgbClr val="495057"/>
                </a:solidFill>
                <a:latin typeface="EB Garamond"/>
                <a:ea typeface="EB Garamond"/>
                <a:cs typeface="EB Garamond"/>
                <a:sym typeface="EB Garamond"/>
              </a:endParaRPr>
            </a:p>
            <a:p>
              <a:pPr indent="-319088" lvl="0" marL="457200" rtl="0" algn="l">
                <a:spcBef>
                  <a:spcPts val="600"/>
                </a:spcBef>
                <a:spcAft>
                  <a:spcPts val="600"/>
                </a:spcAft>
                <a:buClr>
                  <a:srgbClr val="495057"/>
                </a:buClr>
                <a:buSzPts val="1425"/>
                <a:buFont typeface="EB Garamond"/>
                <a:buChar char="●"/>
              </a:pPr>
              <a:r>
                <a:rPr b="1" lang="it" sz="1425">
                  <a:solidFill>
                    <a:srgbClr val="495057"/>
                  </a:solidFill>
                  <a:latin typeface="EB Garamond"/>
                  <a:ea typeface="EB Garamond"/>
                  <a:cs typeface="EB Garamond"/>
                  <a:sym typeface="EB Garamond"/>
                </a:rPr>
                <a:t>Key Diagnostics</a:t>
              </a:r>
              <a:endParaRPr sz="1425">
                <a:solidFill>
                  <a:srgbClr val="495057"/>
                </a:solidFill>
                <a:latin typeface="EB Garamond"/>
                <a:ea typeface="EB Garamond"/>
                <a:cs typeface="EB Garamond"/>
                <a:sym typeface="EB Garamond"/>
              </a:endParaRPr>
            </a:p>
          </p:txBody>
        </p:sp>
      </p:grpSp>
      <p:sp>
        <p:nvSpPr>
          <p:cNvPr id="192" name="Google Shape;192;p2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0" y="1275150"/>
            <a:ext cx="9144000" cy="158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sz="3200"/>
              <a:t>Results</a:t>
            </a:r>
            <a:r>
              <a:rPr lang="it" sz="3200"/>
              <a:t> and Discussion</a:t>
            </a:r>
            <a:endParaRPr sz="3200"/>
          </a:p>
        </p:txBody>
      </p:sp>
      <p:sp>
        <p:nvSpPr>
          <p:cNvPr id="198" name="Google Shape;19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2"/>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2"/>
          <p:cNvSpPr txBox="1"/>
          <p:nvPr/>
        </p:nvSpPr>
        <p:spPr>
          <a:xfrm>
            <a:off x="381000" y="259619"/>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MSE-based Comparison</a:t>
            </a:r>
            <a:endParaRPr b="0" sz="2800">
              <a:solidFill>
                <a:srgbClr val="FFFFFF"/>
              </a:solidFill>
              <a:latin typeface="Merriweather"/>
              <a:ea typeface="Merriweather"/>
              <a:cs typeface="Merriweather"/>
              <a:sym typeface="Merriweather"/>
            </a:endParaRPr>
          </a:p>
        </p:txBody>
      </p:sp>
      <p:sp>
        <p:nvSpPr>
          <p:cNvPr id="205" name="Google Shape;205;p2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06" name="Google Shape;206;p22"/>
          <p:cNvPicPr preferRelativeResize="0"/>
          <p:nvPr/>
        </p:nvPicPr>
        <p:blipFill>
          <a:blip r:embed="rId3">
            <a:alphaModFix/>
          </a:blip>
          <a:stretch>
            <a:fillRect/>
          </a:stretch>
        </p:blipFill>
        <p:spPr>
          <a:xfrm>
            <a:off x="1222325" y="1787350"/>
            <a:ext cx="6591300" cy="2162175"/>
          </a:xfrm>
          <a:prstGeom prst="rect">
            <a:avLst/>
          </a:prstGeom>
          <a:noFill/>
          <a:ln>
            <a:noFill/>
          </a:ln>
        </p:spPr>
      </p:pic>
      <p:sp>
        <p:nvSpPr>
          <p:cNvPr id="207" name="Google Shape;207;p22"/>
          <p:cNvSpPr txBox="1"/>
          <p:nvPr/>
        </p:nvSpPr>
        <p:spPr>
          <a:xfrm>
            <a:off x="1304400" y="4152625"/>
            <a:ext cx="6801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700">
                <a:latin typeface="EB Garamond"/>
                <a:ea typeface="EB Garamond"/>
                <a:cs typeface="EB Garamond"/>
                <a:sym typeface="EB Garamond"/>
              </a:rPr>
              <a:t>Under the MSE protocol, Isolation Forest achieves the best overall performance, outperforming AE, AAE, and PCA. </a:t>
            </a:r>
            <a:endParaRPr sz="1600">
              <a:latin typeface="EB Garamond"/>
              <a:ea typeface="EB Garamond"/>
              <a:cs typeface="EB Garamond"/>
              <a:sym typeface="EB 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p:nvPr/>
        </p:nvSpPr>
        <p:spPr>
          <a:xfrm>
            <a:off x="0" y="0"/>
            <a:ext cx="9144000" cy="101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3"/>
          <p:cNvSpPr txBox="1"/>
          <p:nvPr/>
        </p:nvSpPr>
        <p:spPr>
          <a:xfrm>
            <a:off x="381000" y="23264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AAE vs AE</a:t>
            </a:r>
            <a:endParaRPr b="0" sz="2800">
              <a:solidFill>
                <a:srgbClr val="FFFFFF"/>
              </a:solidFill>
              <a:latin typeface="Merriweather"/>
              <a:ea typeface="Merriweather"/>
              <a:cs typeface="Merriweather"/>
              <a:sym typeface="Merriweather"/>
            </a:endParaRPr>
          </a:p>
        </p:txBody>
      </p:sp>
      <p:sp>
        <p:nvSpPr>
          <p:cNvPr id="214" name="Google Shape;214;p2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15" name="Google Shape;215;p23"/>
          <p:cNvPicPr preferRelativeResize="0"/>
          <p:nvPr/>
        </p:nvPicPr>
        <p:blipFill>
          <a:blip r:embed="rId3">
            <a:alphaModFix/>
          </a:blip>
          <a:stretch>
            <a:fillRect/>
          </a:stretch>
        </p:blipFill>
        <p:spPr>
          <a:xfrm>
            <a:off x="588875" y="2161700"/>
            <a:ext cx="3533775" cy="1876425"/>
          </a:xfrm>
          <a:prstGeom prst="rect">
            <a:avLst/>
          </a:prstGeom>
          <a:noFill/>
          <a:ln>
            <a:noFill/>
          </a:ln>
        </p:spPr>
      </p:pic>
      <p:grpSp>
        <p:nvGrpSpPr>
          <p:cNvPr id="216" name="Google Shape;216;p23"/>
          <p:cNvGrpSpPr/>
          <p:nvPr/>
        </p:nvGrpSpPr>
        <p:grpSpPr>
          <a:xfrm>
            <a:off x="4765042" y="1936302"/>
            <a:ext cx="3997862" cy="2909829"/>
            <a:chOff x="381000" y="1714500"/>
            <a:chExt cx="3952800" cy="2809800"/>
          </a:xfrm>
        </p:grpSpPr>
        <p:sp>
          <p:nvSpPr>
            <p:cNvPr id="217" name="Google Shape;217;p23"/>
            <p:cNvSpPr/>
            <p:nvPr/>
          </p:nvSpPr>
          <p:spPr>
            <a:xfrm>
              <a:off x="381000" y="1714500"/>
              <a:ext cx="3952800" cy="2809800"/>
            </a:xfrm>
            <a:prstGeom prst="roundRect">
              <a:avLst>
                <a:gd fmla="val 4067" name="adj"/>
              </a:avLst>
            </a:prstGeom>
            <a:solidFill>
              <a:srgbClr val="FFFFFF"/>
            </a:solidFill>
            <a:ln cap="flat" cmpd="sng" w="7950">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3"/>
            <p:cNvSpPr txBox="1"/>
            <p:nvPr/>
          </p:nvSpPr>
          <p:spPr>
            <a:xfrm>
              <a:off x="523798" y="1849413"/>
              <a:ext cx="3667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553">
                  <a:solidFill>
                    <a:srgbClr val="31394D"/>
                  </a:solidFill>
                  <a:latin typeface="EB Garamond"/>
                  <a:ea typeface="EB Garamond"/>
                  <a:cs typeface="EB Garamond"/>
                  <a:sym typeface="EB Garamond"/>
                </a:rPr>
                <a:t>Direct Comparison</a:t>
              </a:r>
              <a:endParaRPr b="1" sz="1553">
                <a:solidFill>
                  <a:srgbClr val="31394D"/>
                </a:solidFill>
                <a:latin typeface="EB Garamond"/>
                <a:ea typeface="EB Garamond"/>
                <a:cs typeface="EB Garamond"/>
                <a:sym typeface="EB Garamond"/>
              </a:endParaRPr>
            </a:p>
          </p:txBody>
        </p:sp>
        <p:sp>
          <p:nvSpPr>
            <p:cNvPr id="219" name="Google Shape;219;p23"/>
            <p:cNvSpPr txBox="1"/>
            <p:nvPr/>
          </p:nvSpPr>
          <p:spPr>
            <a:xfrm>
              <a:off x="523880" y="2232724"/>
              <a:ext cx="3667200" cy="2101200"/>
            </a:xfrm>
            <a:prstGeom prst="rect">
              <a:avLst/>
            </a:prstGeom>
            <a:noFill/>
            <a:ln>
              <a:noFill/>
            </a:ln>
          </p:spPr>
          <p:txBody>
            <a:bodyPr anchorCtr="0" anchor="ctr" bIns="0" lIns="0" spcFirstLastPara="1" rIns="0" wrap="square" tIns="0">
              <a:noAutofit/>
            </a:bodyPr>
            <a:lstStyle/>
            <a:p>
              <a:pPr indent="-277035" lvl="0" marL="381848" rtl="0" algn="l">
                <a:spcBef>
                  <a:spcPts val="0"/>
                </a:spcBef>
                <a:spcAft>
                  <a:spcPts val="0"/>
                </a:spcAft>
                <a:buClr>
                  <a:srgbClr val="495057"/>
                </a:buClr>
                <a:buSzPts val="1356"/>
                <a:buFont typeface="EB Garamond"/>
                <a:buChar char="●"/>
              </a:pPr>
              <a:r>
                <a:rPr b="1" lang="it" sz="1356">
                  <a:solidFill>
                    <a:srgbClr val="495057"/>
                  </a:solidFill>
                  <a:latin typeface="EB Garamond"/>
                  <a:ea typeface="EB Garamond"/>
                  <a:cs typeface="EB Garamond"/>
                  <a:sym typeface="EB Garamond"/>
                </a:rPr>
                <a:t>Same windowing</a:t>
              </a:r>
              <a:endParaRPr sz="1356">
                <a:solidFill>
                  <a:srgbClr val="495057"/>
                </a:solidFill>
                <a:latin typeface="EB Garamond"/>
                <a:ea typeface="EB Garamond"/>
                <a:cs typeface="EB Garamond"/>
                <a:sym typeface="EB Garamond"/>
              </a:endParaRPr>
            </a:p>
            <a:p>
              <a:pPr indent="-277035" lvl="0" marL="381848" rtl="0" algn="l">
                <a:spcBef>
                  <a:spcPts val="501"/>
                </a:spcBef>
                <a:spcAft>
                  <a:spcPts val="0"/>
                </a:spcAft>
                <a:buClr>
                  <a:srgbClr val="495057"/>
                </a:buClr>
                <a:buSzPts val="1356"/>
                <a:buFont typeface="EB Garamond"/>
                <a:buChar char="●"/>
              </a:pPr>
              <a:r>
                <a:rPr b="1" lang="it" sz="1356">
                  <a:solidFill>
                    <a:srgbClr val="495057"/>
                  </a:solidFill>
                  <a:latin typeface="EB Garamond"/>
                  <a:ea typeface="EB Garamond"/>
                  <a:cs typeface="EB Garamond"/>
                  <a:sym typeface="EB Garamond"/>
                </a:rPr>
                <a:t>Same backbone and reconstruction loss</a:t>
              </a:r>
              <a:endParaRPr sz="1356">
                <a:solidFill>
                  <a:srgbClr val="495057"/>
                </a:solidFill>
                <a:latin typeface="EB Garamond"/>
                <a:ea typeface="EB Garamond"/>
                <a:cs typeface="EB Garamond"/>
                <a:sym typeface="EB Garamond"/>
              </a:endParaRPr>
            </a:p>
            <a:p>
              <a:pPr indent="-277035" lvl="0" marL="381848" rtl="0" algn="l">
                <a:spcBef>
                  <a:spcPts val="501"/>
                </a:spcBef>
                <a:spcAft>
                  <a:spcPts val="0"/>
                </a:spcAft>
                <a:buClr>
                  <a:srgbClr val="495057"/>
                </a:buClr>
                <a:buSzPts val="1356"/>
                <a:buFont typeface="EB Garamond"/>
                <a:buChar char="●"/>
              </a:pPr>
              <a:r>
                <a:rPr b="1" lang="it" sz="1356">
                  <a:solidFill>
                    <a:srgbClr val="495057"/>
                  </a:solidFill>
                  <a:latin typeface="EB Garamond"/>
                  <a:ea typeface="EB Garamond"/>
                  <a:cs typeface="EB Garamond"/>
                  <a:sym typeface="EB Garamond"/>
                </a:rPr>
                <a:t>Adversarial latent space is the only difference</a:t>
              </a:r>
              <a:endParaRPr sz="1356">
                <a:solidFill>
                  <a:srgbClr val="495057"/>
                </a:solidFill>
                <a:latin typeface="EB Garamond"/>
                <a:ea typeface="EB Garamond"/>
                <a:cs typeface="EB Garamond"/>
                <a:sym typeface="EB Garamond"/>
              </a:endParaRPr>
            </a:p>
            <a:p>
              <a:pPr indent="-277035" lvl="0" marL="381848" rtl="0" algn="l">
                <a:spcBef>
                  <a:spcPts val="501"/>
                </a:spcBef>
                <a:spcAft>
                  <a:spcPts val="0"/>
                </a:spcAft>
                <a:buClr>
                  <a:srgbClr val="495057"/>
                </a:buClr>
                <a:buSzPts val="1356"/>
                <a:buFont typeface="EB Garamond"/>
                <a:buChar char="●"/>
              </a:pPr>
              <a:r>
                <a:rPr b="1" lang="it" sz="1356">
                  <a:solidFill>
                    <a:srgbClr val="495057"/>
                  </a:solidFill>
                  <a:latin typeface="EB Garamond"/>
                  <a:ea typeface="EB Garamond"/>
                  <a:cs typeface="EB Garamond"/>
                  <a:sym typeface="EB Garamond"/>
                </a:rPr>
                <a:t>AAE showed no improvement over AE</a:t>
              </a:r>
              <a:endParaRPr b="1" sz="1356">
                <a:solidFill>
                  <a:srgbClr val="495057"/>
                </a:solidFill>
                <a:latin typeface="EB Garamond"/>
                <a:ea typeface="EB Garamond"/>
                <a:cs typeface="EB Garamond"/>
                <a:sym typeface="EB Garamond"/>
              </a:endParaRPr>
            </a:p>
            <a:p>
              <a:pPr indent="-277035" lvl="0" marL="381848" rtl="0" algn="l">
                <a:spcBef>
                  <a:spcPts val="501"/>
                </a:spcBef>
                <a:spcAft>
                  <a:spcPts val="501"/>
                </a:spcAft>
                <a:buClr>
                  <a:srgbClr val="495057"/>
                </a:buClr>
                <a:buSzPts val="1356"/>
                <a:buFont typeface="EB Garamond"/>
                <a:buChar char="●"/>
              </a:pPr>
              <a:r>
                <a:rPr b="1" lang="it" sz="1356">
                  <a:solidFill>
                    <a:srgbClr val="495057"/>
                  </a:solidFill>
                  <a:latin typeface="EB Garamond"/>
                  <a:ea typeface="EB Garamond"/>
                  <a:cs typeface="EB Garamond"/>
                  <a:sym typeface="EB Garamond"/>
                </a:rPr>
                <a:t>A single Gaussian prior may fail to capture multimodal robot behavior </a:t>
              </a:r>
              <a:endParaRPr b="1" sz="1356">
                <a:solidFill>
                  <a:srgbClr val="495057"/>
                </a:solidFill>
                <a:latin typeface="EB Garamond"/>
                <a:ea typeface="EB Garamond"/>
                <a:cs typeface="EB Garamond"/>
                <a:sym typeface="EB Garamon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p:nvPr/>
        </p:nvSpPr>
        <p:spPr>
          <a:xfrm>
            <a:off x="0" y="0"/>
            <a:ext cx="9144000" cy="10923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4"/>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Impact of Window Length </a:t>
            </a:r>
            <a:endParaRPr b="0" sz="2800">
              <a:solidFill>
                <a:srgbClr val="FFFFFF"/>
              </a:solidFill>
              <a:latin typeface="Merriweather"/>
              <a:ea typeface="Merriweather"/>
              <a:cs typeface="Merriweather"/>
              <a:sym typeface="Merriweather"/>
            </a:endParaRPr>
          </a:p>
        </p:txBody>
      </p:sp>
      <p:sp>
        <p:nvSpPr>
          <p:cNvPr id="226" name="Google Shape;226;p2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27" name="Google Shape;227;p24"/>
          <p:cNvPicPr preferRelativeResize="0"/>
          <p:nvPr/>
        </p:nvPicPr>
        <p:blipFill>
          <a:blip r:embed="rId3">
            <a:alphaModFix/>
          </a:blip>
          <a:stretch>
            <a:fillRect/>
          </a:stretch>
        </p:blipFill>
        <p:spPr>
          <a:xfrm>
            <a:off x="71150" y="2388750"/>
            <a:ext cx="5257800" cy="1495425"/>
          </a:xfrm>
          <a:prstGeom prst="rect">
            <a:avLst/>
          </a:prstGeom>
          <a:noFill/>
          <a:ln>
            <a:noFill/>
          </a:ln>
        </p:spPr>
      </p:pic>
      <p:grpSp>
        <p:nvGrpSpPr>
          <p:cNvPr id="228" name="Google Shape;228;p24"/>
          <p:cNvGrpSpPr/>
          <p:nvPr/>
        </p:nvGrpSpPr>
        <p:grpSpPr>
          <a:xfrm>
            <a:off x="5381149" y="1858099"/>
            <a:ext cx="3714446" cy="2891846"/>
            <a:chOff x="523812" y="1714500"/>
            <a:chExt cx="3952800" cy="2809800"/>
          </a:xfrm>
        </p:grpSpPr>
        <p:sp>
          <p:nvSpPr>
            <p:cNvPr id="229" name="Google Shape;229;p24"/>
            <p:cNvSpPr/>
            <p:nvPr/>
          </p:nvSpPr>
          <p:spPr>
            <a:xfrm>
              <a:off x="523812" y="1714500"/>
              <a:ext cx="3952800" cy="2809800"/>
            </a:xfrm>
            <a:prstGeom prst="roundRect">
              <a:avLst>
                <a:gd fmla="val 4067" name="adj"/>
              </a:avLst>
            </a:prstGeom>
            <a:solidFill>
              <a:srgbClr val="FFFFFF"/>
            </a:solidFill>
            <a:ln cap="flat" cmpd="sng" w="7400">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4"/>
            <p:cNvSpPr txBox="1"/>
            <p:nvPr/>
          </p:nvSpPr>
          <p:spPr>
            <a:xfrm>
              <a:off x="666597" y="2186761"/>
              <a:ext cx="3667200" cy="2256900"/>
            </a:xfrm>
            <a:prstGeom prst="rect">
              <a:avLst/>
            </a:prstGeom>
            <a:noFill/>
            <a:ln>
              <a:noFill/>
            </a:ln>
          </p:spPr>
          <p:txBody>
            <a:bodyPr anchorCtr="0" anchor="ctr" bIns="0" lIns="0" spcFirstLastPara="1" rIns="0" wrap="square" tIns="0">
              <a:noAutofit/>
            </a:bodyPr>
            <a:lstStyle/>
            <a:p>
              <a:pPr indent="-266277" lvl="0" marL="354754" rtl="0" algn="l">
                <a:spcBef>
                  <a:spcPts val="0"/>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Increasing the window length (32 → 64) improves both AE and AAE </a:t>
              </a:r>
              <a:endParaRPr>
                <a:solidFill>
                  <a:srgbClr val="495057"/>
                </a:solidFill>
                <a:latin typeface="EB Garamond"/>
                <a:ea typeface="EB Garamond"/>
                <a:cs typeface="EB Garamond"/>
                <a:sym typeface="EB Garamond"/>
              </a:endParaRPr>
            </a:p>
            <a:p>
              <a:pPr indent="-266277" lvl="0" marL="354754" rtl="0" algn="l">
                <a:spcBef>
                  <a:spcPts val="466"/>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Longer temporal context benefits anomaly detection. </a:t>
              </a:r>
              <a:endParaRPr>
                <a:solidFill>
                  <a:srgbClr val="495057"/>
                </a:solidFill>
                <a:latin typeface="EB Garamond"/>
                <a:ea typeface="EB Garamond"/>
                <a:cs typeface="EB Garamond"/>
                <a:sym typeface="EB Garamond"/>
              </a:endParaRPr>
            </a:p>
            <a:p>
              <a:pPr indent="-266277" lvl="0" marL="354754" rtl="0" algn="l">
                <a:spcBef>
                  <a:spcPts val="466"/>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AE consistently outperforms AAE at both window lengths. </a:t>
              </a:r>
              <a:endParaRPr>
                <a:solidFill>
                  <a:srgbClr val="495057"/>
                </a:solidFill>
                <a:latin typeface="EB Garamond"/>
                <a:ea typeface="EB Garamond"/>
                <a:cs typeface="EB Garamond"/>
                <a:sym typeface="EB Garamond"/>
              </a:endParaRPr>
            </a:p>
            <a:p>
              <a:pPr indent="-266277" lvl="0" marL="354754" rtl="0" algn="l">
                <a:spcBef>
                  <a:spcPts val="466"/>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w=128 was excluded due to too few test windows and different anomaly prevalence. </a:t>
              </a:r>
              <a:endParaRPr b="1">
                <a:solidFill>
                  <a:srgbClr val="495057"/>
                </a:solidFill>
                <a:latin typeface="EB Garamond"/>
                <a:ea typeface="EB Garamond"/>
                <a:cs typeface="EB Garamond"/>
                <a:sym typeface="EB Garamond"/>
              </a:endParaRPr>
            </a:p>
            <a:p>
              <a:pPr indent="0" lvl="0" marL="0" rtl="0" algn="l">
                <a:spcBef>
                  <a:spcPts val="466"/>
                </a:spcBef>
                <a:spcAft>
                  <a:spcPts val="466"/>
                </a:spcAft>
                <a:buNone/>
              </a:pPr>
              <a:r>
                <a:t/>
              </a:r>
              <a:endParaRPr b="1" sz="1260">
                <a:solidFill>
                  <a:srgbClr val="495057"/>
                </a:solidFill>
                <a:latin typeface="EB Garamond"/>
                <a:ea typeface="EB Garamond"/>
                <a:cs typeface="EB Garamond"/>
                <a:sym typeface="EB Garamond"/>
              </a:endParaRPr>
            </a:p>
          </p:txBody>
        </p:sp>
        <p:sp>
          <p:nvSpPr>
            <p:cNvPr id="231" name="Google Shape;231;p24"/>
            <p:cNvSpPr txBox="1"/>
            <p:nvPr/>
          </p:nvSpPr>
          <p:spPr>
            <a:xfrm>
              <a:off x="736047" y="1810955"/>
              <a:ext cx="36672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643">
                  <a:solidFill>
                    <a:srgbClr val="31394D"/>
                  </a:solidFill>
                  <a:latin typeface="EB Garamond"/>
                  <a:ea typeface="EB Garamond"/>
                  <a:cs typeface="EB Garamond"/>
                  <a:sym typeface="EB Garamond"/>
                </a:rPr>
                <a:t>Effect of temporal context</a:t>
              </a:r>
              <a:endParaRPr b="1" sz="1643">
                <a:solidFill>
                  <a:srgbClr val="31394D"/>
                </a:solidFill>
                <a:latin typeface="EB Garamond"/>
                <a:ea typeface="EB Garamond"/>
                <a:cs typeface="EB Garamond"/>
                <a:sym typeface="EB Garamond"/>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p:nvPr/>
        </p:nvSpPr>
        <p:spPr>
          <a:xfrm>
            <a:off x="0" y="0"/>
            <a:ext cx="9144000" cy="10857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25"/>
          <p:cNvSpPr txBox="1"/>
          <p:nvPr/>
        </p:nvSpPr>
        <p:spPr>
          <a:xfrm>
            <a:off x="381000" y="239389"/>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AAE hyperparameter ablation</a:t>
            </a:r>
            <a:endParaRPr b="0" sz="2800">
              <a:solidFill>
                <a:srgbClr val="FFFFFF"/>
              </a:solidFill>
              <a:latin typeface="Merriweather"/>
              <a:ea typeface="Merriweather"/>
              <a:cs typeface="Merriweather"/>
              <a:sym typeface="Merriweather"/>
            </a:endParaRPr>
          </a:p>
        </p:txBody>
      </p:sp>
      <p:sp>
        <p:nvSpPr>
          <p:cNvPr id="238" name="Google Shape;238;p2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39" name="Google Shape;239;p25"/>
          <p:cNvPicPr preferRelativeResize="0"/>
          <p:nvPr/>
        </p:nvPicPr>
        <p:blipFill>
          <a:blip r:embed="rId3">
            <a:alphaModFix/>
          </a:blip>
          <a:stretch>
            <a:fillRect/>
          </a:stretch>
        </p:blipFill>
        <p:spPr>
          <a:xfrm>
            <a:off x="443488" y="1604725"/>
            <a:ext cx="4603629" cy="3438600"/>
          </a:xfrm>
          <a:prstGeom prst="rect">
            <a:avLst/>
          </a:prstGeom>
          <a:noFill/>
          <a:ln>
            <a:noFill/>
          </a:ln>
        </p:spPr>
      </p:pic>
      <p:grpSp>
        <p:nvGrpSpPr>
          <p:cNvPr id="240" name="Google Shape;240;p25"/>
          <p:cNvGrpSpPr/>
          <p:nvPr/>
        </p:nvGrpSpPr>
        <p:grpSpPr>
          <a:xfrm>
            <a:off x="5159349" y="1878099"/>
            <a:ext cx="3714446" cy="2891846"/>
            <a:chOff x="523812" y="1714500"/>
            <a:chExt cx="3952800" cy="2809800"/>
          </a:xfrm>
        </p:grpSpPr>
        <p:sp>
          <p:nvSpPr>
            <p:cNvPr id="241" name="Google Shape;241;p25"/>
            <p:cNvSpPr/>
            <p:nvPr/>
          </p:nvSpPr>
          <p:spPr>
            <a:xfrm>
              <a:off x="523812" y="1714500"/>
              <a:ext cx="3952800" cy="2809800"/>
            </a:xfrm>
            <a:prstGeom prst="roundRect">
              <a:avLst>
                <a:gd fmla="val 4067" name="adj"/>
              </a:avLst>
            </a:prstGeom>
            <a:solidFill>
              <a:srgbClr val="FFFFFF"/>
            </a:solidFill>
            <a:ln cap="flat" cmpd="sng" w="7400">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5"/>
            <p:cNvSpPr txBox="1"/>
            <p:nvPr/>
          </p:nvSpPr>
          <p:spPr>
            <a:xfrm>
              <a:off x="666610" y="2671191"/>
              <a:ext cx="3667200" cy="1584600"/>
            </a:xfrm>
            <a:prstGeom prst="rect">
              <a:avLst/>
            </a:prstGeom>
            <a:noFill/>
            <a:ln>
              <a:noFill/>
            </a:ln>
          </p:spPr>
          <p:txBody>
            <a:bodyPr anchorCtr="0" anchor="ctr" bIns="0" lIns="0" spcFirstLastPara="1" rIns="0" wrap="square" tIns="0">
              <a:noAutofit/>
            </a:bodyPr>
            <a:lstStyle/>
            <a:p>
              <a:pPr indent="-266277" lvl="0" marL="354754" rtl="0" algn="l">
                <a:spcBef>
                  <a:spcPts val="0"/>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Limited sensitivity to hyperparameters</a:t>
              </a:r>
              <a:endParaRPr>
                <a:solidFill>
                  <a:srgbClr val="495057"/>
                </a:solidFill>
                <a:latin typeface="EB Garamond"/>
                <a:ea typeface="EB Garamond"/>
                <a:cs typeface="EB Garamond"/>
                <a:sym typeface="EB Garamond"/>
              </a:endParaRPr>
            </a:p>
            <a:p>
              <a:pPr indent="-266277" lvl="0" marL="354754" rtl="0" algn="l">
                <a:spcBef>
                  <a:spcPts val="466"/>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No configuration outperforms the AE baseline </a:t>
              </a:r>
              <a:endParaRPr>
                <a:solidFill>
                  <a:srgbClr val="495057"/>
                </a:solidFill>
                <a:latin typeface="EB Garamond"/>
                <a:ea typeface="EB Garamond"/>
                <a:cs typeface="EB Garamond"/>
                <a:sym typeface="EB Garamond"/>
              </a:endParaRPr>
            </a:p>
            <a:p>
              <a:pPr indent="-266277" lvl="0" marL="354754" rtl="0" algn="l">
                <a:spcBef>
                  <a:spcPts val="466"/>
                </a:spcBef>
                <a:spcAft>
                  <a:spcPts val="0"/>
                </a:spcAft>
                <a:buClr>
                  <a:srgbClr val="495057"/>
                </a:buClr>
                <a:buSzPts val="1400"/>
                <a:buFont typeface="EB Garamond"/>
                <a:buChar char="●"/>
              </a:pPr>
              <a:r>
                <a:rPr b="1" lang="it">
                  <a:solidFill>
                    <a:srgbClr val="495057"/>
                  </a:solidFill>
                  <a:latin typeface="EB Garamond"/>
                  <a:ea typeface="EB Garamond"/>
                  <a:cs typeface="EB Garamond"/>
                  <a:sym typeface="EB Garamond"/>
                </a:rPr>
                <a:t>The limitation is likely due to the adversarial prior, not only hyperparameter selection </a:t>
              </a:r>
              <a:endParaRPr b="1">
                <a:solidFill>
                  <a:srgbClr val="495057"/>
                </a:solidFill>
                <a:latin typeface="EB Garamond"/>
                <a:ea typeface="EB Garamond"/>
                <a:cs typeface="EB Garamond"/>
                <a:sym typeface="EB Garamond"/>
              </a:endParaRPr>
            </a:p>
            <a:p>
              <a:pPr indent="0" lvl="0" marL="0" rtl="0" algn="l">
                <a:spcBef>
                  <a:spcPts val="466"/>
                </a:spcBef>
                <a:spcAft>
                  <a:spcPts val="466"/>
                </a:spcAft>
                <a:buNone/>
              </a:pPr>
              <a:r>
                <a:t/>
              </a:r>
              <a:endParaRPr b="1" sz="1260">
                <a:solidFill>
                  <a:srgbClr val="495057"/>
                </a:solidFill>
                <a:latin typeface="EB Garamond"/>
                <a:ea typeface="EB Garamond"/>
                <a:cs typeface="EB Garamond"/>
                <a:sym typeface="EB Garamond"/>
              </a:endParaRPr>
            </a:p>
          </p:txBody>
        </p:sp>
        <p:sp>
          <p:nvSpPr>
            <p:cNvPr id="243" name="Google Shape;243;p25"/>
            <p:cNvSpPr txBox="1"/>
            <p:nvPr/>
          </p:nvSpPr>
          <p:spPr>
            <a:xfrm>
              <a:off x="736034" y="1810963"/>
              <a:ext cx="3667200" cy="467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it" sz="1643">
                  <a:solidFill>
                    <a:srgbClr val="31394D"/>
                  </a:solidFill>
                  <a:latin typeface="EB Garamond"/>
                  <a:ea typeface="EB Garamond"/>
                  <a:cs typeface="EB Garamond"/>
                  <a:sym typeface="EB Garamond"/>
                </a:rPr>
                <a:t>Effect of latent dimension and adversarial weight</a:t>
              </a:r>
              <a:endParaRPr b="1" sz="1343">
                <a:solidFill>
                  <a:srgbClr val="31394D"/>
                </a:solidFill>
                <a:latin typeface="EB Garamond"/>
                <a:ea typeface="EB Garamond"/>
                <a:cs typeface="EB Garamond"/>
                <a:sym typeface="EB Garamond"/>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p:nvPr/>
        </p:nvSpPr>
        <p:spPr>
          <a:xfrm>
            <a:off x="0" y="0"/>
            <a:ext cx="9144000" cy="10857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6"/>
          <p:cNvSpPr txBox="1"/>
          <p:nvPr/>
        </p:nvSpPr>
        <p:spPr>
          <a:xfrm>
            <a:off x="381000" y="219159"/>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Effect of Robust Reconstruction Loss </a:t>
            </a:r>
            <a:endParaRPr b="0" sz="2800">
              <a:solidFill>
                <a:srgbClr val="FFFFFF"/>
              </a:solidFill>
              <a:latin typeface="Merriweather"/>
              <a:ea typeface="Merriweather"/>
              <a:cs typeface="Merriweather"/>
              <a:sym typeface="Merriweather"/>
            </a:endParaRPr>
          </a:p>
        </p:txBody>
      </p:sp>
      <p:sp>
        <p:nvSpPr>
          <p:cNvPr id="250" name="Google Shape;250;p2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51" name="Google Shape;251;p26"/>
          <p:cNvSpPr txBox="1"/>
          <p:nvPr/>
        </p:nvSpPr>
        <p:spPr>
          <a:xfrm>
            <a:off x="1123800" y="4089075"/>
            <a:ext cx="68964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700">
                <a:latin typeface="EB Garamond"/>
                <a:ea typeface="EB Garamond"/>
                <a:cs typeface="EB Garamond"/>
                <a:sym typeface="EB Garamond"/>
              </a:rPr>
              <a:t>Smooth L1 loss is the key factor driving the improvement, making reconstruction-based models more robust to outliers. </a:t>
            </a:r>
            <a:endParaRPr b="1" sz="1700">
              <a:latin typeface="EB Garamond"/>
              <a:ea typeface="EB Garamond"/>
              <a:cs typeface="EB Garamond"/>
              <a:sym typeface="EB Garamond"/>
            </a:endParaRPr>
          </a:p>
          <a:p>
            <a:pPr indent="0" lvl="0" marL="0" rtl="0" algn="l">
              <a:spcBef>
                <a:spcPts val="0"/>
              </a:spcBef>
              <a:spcAft>
                <a:spcPts val="0"/>
              </a:spcAft>
              <a:buNone/>
            </a:pPr>
            <a:r>
              <a:rPr b="1" lang="it" sz="1700">
                <a:latin typeface="EB Garamond"/>
                <a:ea typeface="EB Garamond"/>
                <a:cs typeface="EB Garamond"/>
                <a:sym typeface="EB Garamond"/>
              </a:rPr>
              <a:t>Peak performance achieved with an exceptional PR-AUC of 0.7634. </a:t>
            </a:r>
            <a:endParaRPr b="1" sz="1700">
              <a:latin typeface="EB Garamond"/>
              <a:ea typeface="EB Garamond"/>
              <a:cs typeface="EB Garamond"/>
              <a:sym typeface="EB Garamond"/>
            </a:endParaRPr>
          </a:p>
        </p:txBody>
      </p:sp>
      <p:pic>
        <p:nvPicPr>
          <p:cNvPr id="252" name="Google Shape;252;p26" title="WhatsApp Image 2026-07-13 at 16.19.53.jpeg"/>
          <p:cNvPicPr preferRelativeResize="0"/>
          <p:nvPr/>
        </p:nvPicPr>
        <p:blipFill>
          <a:blip r:embed="rId3">
            <a:alphaModFix/>
          </a:blip>
          <a:stretch>
            <a:fillRect/>
          </a:stretch>
        </p:blipFill>
        <p:spPr>
          <a:xfrm>
            <a:off x="0" y="1552500"/>
            <a:ext cx="4533475" cy="2536583"/>
          </a:xfrm>
          <a:prstGeom prst="rect">
            <a:avLst/>
          </a:prstGeom>
          <a:noFill/>
          <a:ln>
            <a:noFill/>
          </a:ln>
        </p:spPr>
      </p:pic>
      <p:pic>
        <p:nvPicPr>
          <p:cNvPr id="253" name="Google Shape;253;p26" title="WhatsApp Image 2026-07-13 at 16.19.53 (1).jpeg"/>
          <p:cNvPicPr preferRelativeResize="0"/>
          <p:nvPr/>
        </p:nvPicPr>
        <p:blipFill>
          <a:blip r:embed="rId4">
            <a:alphaModFix/>
          </a:blip>
          <a:stretch>
            <a:fillRect/>
          </a:stretch>
        </p:blipFill>
        <p:spPr>
          <a:xfrm>
            <a:off x="4572000" y="1551239"/>
            <a:ext cx="4533476" cy="25390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27"/>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Multi-seed stability</a:t>
            </a:r>
            <a:endParaRPr b="0" sz="2800">
              <a:solidFill>
                <a:srgbClr val="FFFFFF"/>
              </a:solidFill>
              <a:latin typeface="Merriweather"/>
              <a:ea typeface="Merriweather"/>
              <a:cs typeface="Merriweather"/>
              <a:sym typeface="Merriweather"/>
            </a:endParaRPr>
          </a:p>
        </p:txBody>
      </p:sp>
      <p:sp>
        <p:nvSpPr>
          <p:cNvPr id="260" name="Google Shape;260;p2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61" name="Google Shape;261;p27"/>
          <p:cNvSpPr/>
          <p:nvPr/>
        </p:nvSpPr>
        <p:spPr>
          <a:xfrm>
            <a:off x="5212625" y="1314517"/>
            <a:ext cx="3550500" cy="3223200"/>
          </a:xfrm>
          <a:prstGeom prst="roundRect">
            <a:avLst>
              <a:gd fmla="val 5439"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62" name="Google Shape;262;p27"/>
          <p:cNvSpPr txBox="1"/>
          <p:nvPr/>
        </p:nvSpPr>
        <p:spPr>
          <a:xfrm>
            <a:off x="5124975" y="1644960"/>
            <a:ext cx="3591000" cy="14499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495057"/>
              </a:buClr>
              <a:buSzPts val="1100"/>
              <a:buFont typeface="EB Garamond"/>
              <a:buChar char="●"/>
            </a:pPr>
            <a:r>
              <a:rPr b="1" lang="it" sz="1100">
                <a:solidFill>
                  <a:srgbClr val="495057"/>
                </a:solidFill>
                <a:latin typeface="EB Garamond"/>
                <a:ea typeface="EB Garamond"/>
                <a:cs typeface="EB Garamond"/>
                <a:sym typeface="EB Garamond"/>
              </a:rPr>
              <a:t>Isolation Forest gives the strongest mean PR-AUC across seeds.</a:t>
            </a:r>
            <a:endParaRPr b="1" sz="1100">
              <a:solidFill>
                <a:srgbClr val="495057"/>
              </a:solidFill>
              <a:latin typeface="EB Garamond"/>
              <a:ea typeface="EB Garamond"/>
              <a:cs typeface="EB Garamond"/>
              <a:sym typeface="EB Garamond"/>
            </a:endParaRPr>
          </a:p>
          <a:p>
            <a:pPr indent="0" lvl="0" marL="0" rtl="0" algn="l">
              <a:spcBef>
                <a:spcPts val="0"/>
              </a:spcBef>
              <a:spcAft>
                <a:spcPts val="0"/>
              </a:spcAft>
              <a:buNone/>
            </a:pPr>
            <a:r>
              <a:t/>
            </a:r>
            <a:endParaRPr b="1" sz="1100">
              <a:solidFill>
                <a:srgbClr val="495057"/>
              </a:solidFill>
              <a:latin typeface="EB Garamond"/>
              <a:ea typeface="EB Garamond"/>
              <a:cs typeface="EB Garamond"/>
              <a:sym typeface="EB Garamond"/>
            </a:endParaRPr>
          </a:p>
          <a:p>
            <a:pPr indent="-298450" lvl="0" marL="457200" rtl="0" algn="l">
              <a:spcBef>
                <a:spcPts val="0"/>
              </a:spcBef>
              <a:spcAft>
                <a:spcPts val="0"/>
              </a:spcAft>
              <a:buClr>
                <a:srgbClr val="495057"/>
              </a:buClr>
              <a:buSzPts val="1100"/>
              <a:buFont typeface="EB Garamond"/>
              <a:buChar char="●"/>
            </a:pPr>
            <a:r>
              <a:rPr b="1" lang="it" sz="1100">
                <a:solidFill>
                  <a:srgbClr val="495057"/>
                </a:solidFill>
                <a:latin typeface="EB Garamond"/>
                <a:ea typeface="EB Garamond"/>
                <a:cs typeface="EB Garamond"/>
                <a:sym typeface="EB Garamond"/>
              </a:rPr>
              <a:t>AE + Smooth L1 remains very competitive, with fewer false alarms.</a:t>
            </a:r>
            <a:endParaRPr b="1" sz="1100">
              <a:solidFill>
                <a:srgbClr val="495057"/>
              </a:solidFill>
              <a:latin typeface="EB Garamond"/>
              <a:ea typeface="EB Garamond"/>
              <a:cs typeface="EB Garamond"/>
              <a:sym typeface="EB Garamond"/>
            </a:endParaRPr>
          </a:p>
          <a:p>
            <a:pPr indent="0" lvl="0" marL="0" rtl="0" algn="l">
              <a:spcBef>
                <a:spcPts val="0"/>
              </a:spcBef>
              <a:spcAft>
                <a:spcPts val="0"/>
              </a:spcAft>
              <a:buNone/>
            </a:pPr>
            <a:r>
              <a:t/>
            </a:r>
            <a:endParaRPr b="1" sz="1100">
              <a:solidFill>
                <a:srgbClr val="495057"/>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Char char="●"/>
            </a:pPr>
            <a:r>
              <a:rPr b="1" lang="it" sz="1100">
                <a:solidFill>
                  <a:srgbClr val="495057"/>
                </a:solidFill>
                <a:latin typeface="EB Garamond"/>
                <a:ea typeface="EB Garamond"/>
                <a:cs typeface="EB Garamond"/>
                <a:sym typeface="EB Garamond"/>
              </a:rPr>
              <a:t>AAE is consistently below AE: the gap is not just a bad seed.</a:t>
            </a:r>
            <a:r>
              <a:rPr lang="it" sz="1100">
                <a:latin typeface="EB Garamond"/>
                <a:ea typeface="EB Garamond"/>
                <a:cs typeface="EB Garamond"/>
                <a:sym typeface="EB Garamond"/>
              </a:rPr>
              <a:t> </a:t>
            </a:r>
            <a:endParaRPr sz="1100">
              <a:latin typeface="EB Garamond"/>
              <a:ea typeface="EB Garamond"/>
              <a:cs typeface="EB Garamond"/>
              <a:sym typeface="EB Garamond"/>
            </a:endParaRPr>
          </a:p>
        </p:txBody>
      </p:sp>
      <p:cxnSp>
        <p:nvCxnSpPr>
          <p:cNvPr id="263" name="Google Shape;263;p27"/>
          <p:cNvCxnSpPr/>
          <p:nvPr/>
        </p:nvCxnSpPr>
        <p:spPr>
          <a:xfrm flipH="1">
            <a:off x="5502500" y="3270092"/>
            <a:ext cx="2973900" cy="6900"/>
          </a:xfrm>
          <a:prstGeom prst="straightConnector1">
            <a:avLst/>
          </a:prstGeom>
          <a:noFill/>
          <a:ln cap="flat" cmpd="sng" w="9525">
            <a:solidFill>
              <a:srgbClr val="000000"/>
            </a:solidFill>
            <a:prstDash val="solid"/>
            <a:round/>
            <a:headEnd len="med" w="med" type="none"/>
            <a:tailEnd len="med" w="med" type="none"/>
          </a:ln>
        </p:spPr>
      </p:cxnSp>
      <p:sp>
        <p:nvSpPr>
          <p:cNvPr id="264" name="Google Shape;264;p27"/>
          <p:cNvSpPr txBox="1"/>
          <p:nvPr/>
        </p:nvSpPr>
        <p:spPr>
          <a:xfrm>
            <a:off x="5381200" y="3506113"/>
            <a:ext cx="7956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rgbClr val="0000FF"/>
                </a:solidFill>
                <a:latin typeface="Lobster"/>
                <a:ea typeface="Lobster"/>
                <a:cs typeface="Lobster"/>
                <a:sym typeface="Lobster"/>
              </a:rPr>
              <a:t>0,793</a:t>
            </a:r>
            <a:endParaRPr sz="1800">
              <a:solidFill>
                <a:srgbClr val="0000FF"/>
              </a:solidFill>
              <a:latin typeface="Lobster"/>
              <a:ea typeface="Lobster"/>
              <a:cs typeface="Lobster"/>
              <a:sym typeface="Lobster"/>
            </a:endParaRPr>
          </a:p>
        </p:txBody>
      </p:sp>
      <p:sp>
        <p:nvSpPr>
          <p:cNvPr id="265" name="Google Shape;265;p27"/>
          <p:cNvSpPr txBox="1"/>
          <p:nvPr/>
        </p:nvSpPr>
        <p:spPr>
          <a:xfrm>
            <a:off x="6573200" y="3506113"/>
            <a:ext cx="7956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rgbClr val="38761D"/>
                </a:solidFill>
                <a:latin typeface="Lobster"/>
                <a:ea typeface="Lobster"/>
                <a:cs typeface="Lobster"/>
                <a:sym typeface="Lobster"/>
              </a:rPr>
              <a:t>0,761</a:t>
            </a:r>
            <a:endParaRPr sz="1800">
              <a:solidFill>
                <a:srgbClr val="38761D"/>
              </a:solidFill>
              <a:latin typeface="Lobster"/>
              <a:ea typeface="Lobster"/>
              <a:cs typeface="Lobster"/>
              <a:sym typeface="Lobster"/>
            </a:endParaRPr>
          </a:p>
        </p:txBody>
      </p:sp>
      <p:sp>
        <p:nvSpPr>
          <p:cNvPr id="266" name="Google Shape;266;p27"/>
          <p:cNvSpPr txBox="1"/>
          <p:nvPr/>
        </p:nvSpPr>
        <p:spPr>
          <a:xfrm>
            <a:off x="7655050" y="3506113"/>
            <a:ext cx="795600" cy="4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800">
                <a:solidFill>
                  <a:srgbClr val="FF9900"/>
                </a:solidFill>
                <a:latin typeface="Lobster"/>
                <a:ea typeface="Lobster"/>
                <a:cs typeface="Lobster"/>
                <a:sym typeface="Lobster"/>
              </a:rPr>
              <a:t>0,690</a:t>
            </a:r>
            <a:endParaRPr sz="1800">
              <a:solidFill>
                <a:srgbClr val="FF9900"/>
              </a:solidFill>
              <a:latin typeface="Lobster"/>
              <a:ea typeface="Lobster"/>
              <a:cs typeface="Lobster"/>
              <a:sym typeface="Lobster"/>
            </a:endParaRPr>
          </a:p>
        </p:txBody>
      </p:sp>
      <p:sp>
        <p:nvSpPr>
          <p:cNvPr id="267" name="Google Shape;267;p27"/>
          <p:cNvSpPr txBox="1"/>
          <p:nvPr/>
        </p:nvSpPr>
        <p:spPr>
          <a:xfrm>
            <a:off x="5286793" y="3843280"/>
            <a:ext cx="1092300" cy="24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800">
                <a:solidFill>
                  <a:schemeClr val="dk2"/>
                </a:solidFill>
                <a:latin typeface="EB Garamond"/>
                <a:ea typeface="EB Garamond"/>
                <a:cs typeface="EB Garamond"/>
                <a:sym typeface="EB Garamond"/>
              </a:rPr>
              <a:t>IF mean PR-AUC</a:t>
            </a:r>
            <a:endParaRPr sz="800">
              <a:solidFill>
                <a:schemeClr val="dk2"/>
              </a:solidFill>
              <a:latin typeface="EB Garamond"/>
              <a:ea typeface="EB Garamond"/>
              <a:cs typeface="EB Garamond"/>
              <a:sym typeface="EB Garamond"/>
            </a:endParaRPr>
          </a:p>
        </p:txBody>
      </p:sp>
      <p:sp>
        <p:nvSpPr>
          <p:cNvPr id="268" name="Google Shape;268;p27"/>
          <p:cNvSpPr txBox="1"/>
          <p:nvPr/>
        </p:nvSpPr>
        <p:spPr>
          <a:xfrm>
            <a:off x="6424843" y="3849292"/>
            <a:ext cx="1092300" cy="24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800">
                <a:solidFill>
                  <a:schemeClr val="dk2"/>
                </a:solidFill>
                <a:latin typeface="EB Garamond"/>
                <a:ea typeface="EB Garamond"/>
                <a:cs typeface="EB Garamond"/>
                <a:sym typeface="EB Garamond"/>
              </a:rPr>
              <a:t>AE Smooth L1</a:t>
            </a:r>
            <a:endParaRPr sz="800">
              <a:solidFill>
                <a:schemeClr val="dk2"/>
              </a:solidFill>
              <a:latin typeface="EB Garamond"/>
              <a:ea typeface="EB Garamond"/>
              <a:cs typeface="EB Garamond"/>
              <a:sym typeface="EB Garamond"/>
            </a:endParaRPr>
          </a:p>
        </p:txBody>
      </p:sp>
      <p:sp>
        <p:nvSpPr>
          <p:cNvPr id="269" name="Google Shape;269;p27"/>
          <p:cNvSpPr txBox="1"/>
          <p:nvPr/>
        </p:nvSpPr>
        <p:spPr>
          <a:xfrm>
            <a:off x="7506693" y="3861389"/>
            <a:ext cx="1092300" cy="24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800">
                <a:solidFill>
                  <a:schemeClr val="dk2"/>
                </a:solidFill>
                <a:latin typeface="EB Garamond"/>
                <a:ea typeface="EB Garamond"/>
                <a:cs typeface="EB Garamond"/>
                <a:sym typeface="EB Garamond"/>
              </a:rPr>
              <a:t>AEE no warm-up</a:t>
            </a:r>
            <a:endParaRPr sz="800">
              <a:solidFill>
                <a:schemeClr val="dk2"/>
              </a:solidFill>
              <a:latin typeface="EB Garamond"/>
              <a:ea typeface="EB Garamond"/>
              <a:cs typeface="EB Garamond"/>
              <a:sym typeface="EB Garamond"/>
            </a:endParaRPr>
          </a:p>
        </p:txBody>
      </p:sp>
      <p:pic>
        <p:nvPicPr>
          <p:cNvPr id="270" name="Google Shape;270;p27" title="multi-seed.png"/>
          <p:cNvPicPr preferRelativeResize="0"/>
          <p:nvPr/>
        </p:nvPicPr>
        <p:blipFill>
          <a:blip r:embed="rId3">
            <a:alphaModFix/>
          </a:blip>
          <a:stretch>
            <a:fillRect/>
          </a:stretch>
        </p:blipFill>
        <p:spPr>
          <a:xfrm>
            <a:off x="103925" y="1521450"/>
            <a:ext cx="4880876" cy="27337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8"/>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AAE diagnostics</a:t>
            </a:r>
            <a:endParaRPr b="0" sz="2800">
              <a:solidFill>
                <a:srgbClr val="FFFFFF"/>
              </a:solidFill>
              <a:latin typeface="Merriweather"/>
              <a:ea typeface="Merriweather"/>
              <a:cs typeface="Merriweather"/>
              <a:sym typeface="Merriweather"/>
            </a:endParaRPr>
          </a:p>
        </p:txBody>
      </p:sp>
      <p:sp>
        <p:nvSpPr>
          <p:cNvPr id="277" name="Google Shape;277;p28"/>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78" name="Google Shape;278;p28"/>
          <p:cNvSpPr/>
          <p:nvPr/>
        </p:nvSpPr>
        <p:spPr>
          <a:xfrm>
            <a:off x="540200" y="1425450"/>
            <a:ext cx="3627300" cy="2292600"/>
          </a:xfrm>
          <a:prstGeom prst="roundRect">
            <a:avLst>
              <a:gd fmla="val 4067" name="adj"/>
            </a:avLst>
          </a:prstGeom>
          <a:solidFill>
            <a:srgbClr val="FFFFFF"/>
          </a:solidFill>
          <a:ln cap="flat" cmpd="sng" w="7400">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9" name="Google Shape;279;p28" title="anomalous-test.png"/>
          <p:cNvPicPr preferRelativeResize="0"/>
          <p:nvPr/>
        </p:nvPicPr>
        <p:blipFill>
          <a:blip r:embed="rId3">
            <a:alphaModFix/>
          </a:blip>
          <a:stretch>
            <a:fillRect/>
          </a:stretch>
        </p:blipFill>
        <p:spPr>
          <a:xfrm>
            <a:off x="628625" y="1580112"/>
            <a:ext cx="3451924" cy="2055851"/>
          </a:xfrm>
          <a:prstGeom prst="rect">
            <a:avLst/>
          </a:prstGeom>
          <a:noFill/>
          <a:ln>
            <a:noFill/>
          </a:ln>
        </p:spPr>
      </p:pic>
      <p:sp>
        <p:nvSpPr>
          <p:cNvPr id="280" name="Google Shape;280;p28"/>
          <p:cNvSpPr/>
          <p:nvPr/>
        </p:nvSpPr>
        <p:spPr>
          <a:xfrm>
            <a:off x="4738625" y="1425450"/>
            <a:ext cx="3627300" cy="2292600"/>
          </a:xfrm>
          <a:prstGeom prst="roundRect">
            <a:avLst>
              <a:gd fmla="val 4067" name="adj"/>
            </a:avLst>
          </a:prstGeom>
          <a:solidFill>
            <a:srgbClr val="FFFFFF"/>
          </a:solidFill>
          <a:ln cap="flat" cmpd="sng" w="7400">
            <a:solidFill>
              <a:srgbClr val="313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81" name="Google Shape;281;p28" title="normal-test.png"/>
          <p:cNvPicPr preferRelativeResize="0"/>
          <p:nvPr/>
        </p:nvPicPr>
        <p:blipFill rotWithShape="1">
          <a:blip r:embed="rId4">
            <a:alphaModFix/>
          </a:blip>
          <a:srcRect b="-1610" l="-770" r="770" t="1610"/>
          <a:stretch/>
        </p:blipFill>
        <p:spPr>
          <a:xfrm>
            <a:off x="4792728" y="1523785"/>
            <a:ext cx="3519251" cy="2095926"/>
          </a:xfrm>
          <a:prstGeom prst="rect">
            <a:avLst/>
          </a:prstGeom>
          <a:noFill/>
          <a:ln>
            <a:noFill/>
          </a:ln>
        </p:spPr>
      </p:pic>
      <p:sp>
        <p:nvSpPr>
          <p:cNvPr id="282" name="Google Shape;282;p28"/>
          <p:cNvSpPr txBox="1"/>
          <p:nvPr/>
        </p:nvSpPr>
        <p:spPr>
          <a:xfrm>
            <a:off x="411475" y="3870675"/>
            <a:ext cx="7900500" cy="10317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SzPts val="1100"/>
              <a:buFont typeface="EB Garamond"/>
              <a:buChar char="●"/>
            </a:pPr>
            <a:r>
              <a:rPr b="1" lang="it" sz="1100">
                <a:solidFill>
                  <a:srgbClr val="495057"/>
                </a:solidFill>
                <a:latin typeface="EB Garamond"/>
                <a:ea typeface="EB Garamond"/>
                <a:cs typeface="EB Garamond"/>
                <a:sym typeface="EB Garamond"/>
              </a:rPr>
              <a:t>AAE mostly detects a subset of the windows already detected by AE.</a:t>
            </a:r>
            <a:endParaRPr b="1" sz="1100">
              <a:solidFill>
                <a:srgbClr val="495057"/>
              </a:solidFill>
              <a:latin typeface="EB Garamond"/>
              <a:ea typeface="EB Garamond"/>
              <a:cs typeface="EB Garamond"/>
              <a:sym typeface="EB Garamond"/>
            </a:endParaRPr>
          </a:p>
          <a:p>
            <a:pPr indent="0" lvl="0" marL="457200" marR="0" rtl="0" algn="l">
              <a:lnSpc>
                <a:spcPct val="100000"/>
              </a:lnSpc>
              <a:spcBef>
                <a:spcPts val="0"/>
              </a:spcBef>
              <a:spcAft>
                <a:spcPts val="0"/>
              </a:spcAft>
              <a:buNone/>
            </a:pPr>
            <a:r>
              <a:t/>
            </a:r>
            <a:endParaRPr b="1" sz="1100">
              <a:solidFill>
                <a:srgbClr val="495057"/>
              </a:solidFill>
              <a:latin typeface="EB Garamond"/>
              <a:ea typeface="EB Garamond"/>
              <a:cs typeface="EB Garamond"/>
              <a:sym typeface="EB Garamond"/>
            </a:endParaRPr>
          </a:p>
          <a:p>
            <a:pPr indent="-298450" lvl="0" marL="457200" marR="0" rtl="0" algn="l">
              <a:lnSpc>
                <a:spcPct val="100000"/>
              </a:lnSpc>
              <a:spcBef>
                <a:spcPts val="0"/>
              </a:spcBef>
              <a:spcAft>
                <a:spcPts val="0"/>
              </a:spcAft>
              <a:buSzPts val="1100"/>
              <a:buFont typeface="EB Garamond"/>
              <a:buChar char="●"/>
            </a:pPr>
            <a:r>
              <a:rPr b="1" lang="it" sz="1100">
                <a:solidFill>
                  <a:srgbClr val="495057"/>
                </a:solidFill>
                <a:latin typeface="EB Garamond"/>
                <a:ea typeface="EB Garamond"/>
                <a:cs typeface="EB Garamond"/>
                <a:sym typeface="EB Garamond"/>
              </a:rPr>
              <a:t>Latent norm, Mahalanobis distance and discriminator score have poor PR-AUC by themselves.</a:t>
            </a:r>
            <a:endParaRPr b="1" sz="1100">
              <a:solidFill>
                <a:srgbClr val="495057"/>
              </a:solidFill>
              <a:latin typeface="EB Garamond"/>
              <a:ea typeface="EB Garamond"/>
              <a:cs typeface="EB Garamond"/>
              <a:sym typeface="EB Garamond"/>
            </a:endParaRPr>
          </a:p>
          <a:p>
            <a:pPr indent="0" lvl="0" marL="457200" marR="0" rtl="0" algn="l">
              <a:lnSpc>
                <a:spcPct val="100000"/>
              </a:lnSpc>
              <a:spcBef>
                <a:spcPts val="0"/>
              </a:spcBef>
              <a:spcAft>
                <a:spcPts val="0"/>
              </a:spcAft>
              <a:buNone/>
            </a:pPr>
            <a:r>
              <a:t/>
            </a:r>
            <a:endParaRPr b="1" sz="1100">
              <a:solidFill>
                <a:srgbClr val="495057"/>
              </a:solidFill>
              <a:latin typeface="EB Garamond"/>
              <a:ea typeface="EB Garamond"/>
              <a:cs typeface="EB Garamond"/>
              <a:sym typeface="EB Garamond"/>
            </a:endParaRPr>
          </a:p>
          <a:p>
            <a:pPr indent="-298450" lvl="0" marL="457200" marR="0" rtl="0" algn="l">
              <a:lnSpc>
                <a:spcPct val="100000"/>
              </a:lnSpc>
              <a:spcBef>
                <a:spcPts val="0"/>
              </a:spcBef>
              <a:spcAft>
                <a:spcPts val="0"/>
              </a:spcAft>
              <a:buSzPts val="1100"/>
              <a:buFont typeface="EB Garamond"/>
              <a:buChar char="●"/>
            </a:pPr>
            <a:r>
              <a:rPr b="1" lang="it" sz="1100">
                <a:solidFill>
                  <a:srgbClr val="495057"/>
                </a:solidFill>
                <a:latin typeface="EB Garamond"/>
                <a:ea typeface="EB Garamond"/>
                <a:cs typeface="EB Garamond"/>
                <a:sym typeface="EB Garamond"/>
              </a:rPr>
              <a:t>The discriminator regularizes the latent space, but it was never trained as a normal-vs-anomalous classifier</a:t>
            </a:r>
            <a:endParaRPr sz="13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9"/>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9"/>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AAE warm-up</a:t>
            </a:r>
            <a:endParaRPr b="0" sz="2800">
              <a:solidFill>
                <a:srgbClr val="FFFFFF"/>
              </a:solidFill>
              <a:latin typeface="Merriweather"/>
              <a:ea typeface="Merriweather"/>
              <a:cs typeface="Merriweather"/>
              <a:sym typeface="Merriweather"/>
            </a:endParaRPr>
          </a:p>
        </p:txBody>
      </p:sp>
      <p:sp>
        <p:nvSpPr>
          <p:cNvPr id="289" name="Google Shape;289;p2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90" name="Google Shape;290;p29" title="adversarial-objective.png"/>
          <p:cNvPicPr preferRelativeResize="0"/>
          <p:nvPr/>
        </p:nvPicPr>
        <p:blipFill>
          <a:blip r:embed="rId3">
            <a:alphaModFix/>
          </a:blip>
          <a:stretch>
            <a:fillRect/>
          </a:stretch>
        </p:blipFill>
        <p:spPr>
          <a:xfrm>
            <a:off x="301250" y="1414275"/>
            <a:ext cx="5183200" cy="2903000"/>
          </a:xfrm>
          <a:prstGeom prst="rect">
            <a:avLst/>
          </a:prstGeom>
          <a:noFill/>
          <a:ln>
            <a:noFill/>
          </a:ln>
        </p:spPr>
      </p:pic>
      <p:sp>
        <p:nvSpPr>
          <p:cNvPr id="291" name="Google Shape;291;p29"/>
          <p:cNvSpPr/>
          <p:nvPr/>
        </p:nvSpPr>
        <p:spPr>
          <a:xfrm>
            <a:off x="5843197" y="1515500"/>
            <a:ext cx="2895600" cy="2451900"/>
          </a:xfrm>
          <a:prstGeom prst="roundRect">
            <a:avLst>
              <a:gd fmla="val 5439"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292" name="Google Shape;292;p29"/>
          <p:cNvSpPr txBox="1"/>
          <p:nvPr/>
        </p:nvSpPr>
        <p:spPr>
          <a:xfrm>
            <a:off x="6059047" y="1756668"/>
            <a:ext cx="2592300" cy="7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700">
                <a:solidFill>
                  <a:schemeClr val="accent1"/>
                </a:solidFill>
                <a:latin typeface="EB Garamond"/>
                <a:ea typeface="EB Garamond"/>
                <a:cs typeface="EB Garamond"/>
                <a:sym typeface="EB Garamond"/>
              </a:rPr>
              <a:t>Optimization succeeds ≠ anomaly ranking improves</a:t>
            </a:r>
            <a:r>
              <a:rPr lang="it" sz="1300">
                <a:solidFill>
                  <a:schemeClr val="accent1"/>
                </a:solidFill>
                <a:latin typeface="EB Garamond"/>
                <a:ea typeface="EB Garamond"/>
                <a:cs typeface="EB Garamond"/>
                <a:sym typeface="EB Garamond"/>
              </a:rPr>
              <a:t> </a:t>
            </a:r>
            <a:endParaRPr sz="1300">
              <a:solidFill>
                <a:schemeClr val="accent1"/>
              </a:solidFill>
              <a:latin typeface="EB Garamond"/>
              <a:ea typeface="EB Garamond"/>
              <a:cs typeface="EB Garamond"/>
              <a:sym typeface="EB Garamond"/>
            </a:endParaRPr>
          </a:p>
        </p:txBody>
      </p:sp>
      <p:sp>
        <p:nvSpPr>
          <p:cNvPr id="293" name="Google Shape;293;p29"/>
          <p:cNvSpPr txBox="1"/>
          <p:nvPr/>
        </p:nvSpPr>
        <p:spPr>
          <a:xfrm>
            <a:off x="5843197" y="2687125"/>
            <a:ext cx="2895600" cy="12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300">
                <a:solidFill>
                  <a:schemeClr val="dk2"/>
                </a:solidFill>
                <a:latin typeface="EB Garamond"/>
                <a:ea typeface="EB Garamond"/>
                <a:cs typeface="EB Garamond"/>
                <a:sym typeface="EB Garamond"/>
              </a:rPr>
              <a:t>Warm-up reduces latent covariance error and stabilizes training, but test PR-AUC remains essentially unchanged. </a:t>
            </a:r>
            <a:endParaRPr sz="1300">
              <a:solidFill>
                <a:schemeClr val="dk2"/>
              </a:solidFill>
              <a:latin typeface="EB Garamond"/>
              <a:ea typeface="EB Garamond"/>
              <a:cs typeface="EB Garamond"/>
              <a:sym typeface="EB Garamo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30"/>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Per-feature analysis</a:t>
            </a:r>
            <a:endParaRPr b="0" sz="2800">
              <a:solidFill>
                <a:srgbClr val="FFFFFF"/>
              </a:solidFill>
              <a:latin typeface="Merriweather"/>
              <a:ea typeface="Merriweather"/>
              <a:cs typeface="Merriweather"/>
              <a:sym typeface="Merriweather"/>
            </a:endParaRPr>
          </a:p>
        </p:txBody>
      </p:sp>
      <p:sp>
        <p:nvSpPr>
          <p:cNvPr id="300" name="Google Shape;300;p30"/>
          <p:cNvSpPr txBox="1"/>
          <p:nvPr>
            <p:ph idx="12" type="sldNum"/>
          </p:nvPr>
        </p:nvSpPr>
        <p:spPr>
          <a:xfrm>
            <a:off x="8556784" y="4701855"/>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01" name="Google Shape;301;p30" title="per-feature-reconstruction.png"/>
          <p:cNvPicPr preferRelativeResize="0"/>
          <p:nvPr/>
        </p:nvPicPr>
        <p:blipFill>
          <a:blip r:embed="rId3">
            <a:alphaModFix/>
          </a:blip>
          <a:stretch>
            <a:fillRect/>
          </a:stretch>
        </p:blipFill>
        <p:spPr>
          <a:xfrm>
            <a:off x="187012" y="1493375"/>
            <a:ext cx="5722689" cy="3208351"/>
          </a:xfrm>
          <a:prstGeom prst="rect">
            <a:avLst/>
          </a:prstGeom>
          <a:noFill/>
          <a:ln>
            <a:noFill/>
          </a:ln>
        </p:spPr>
      </p:pic>
      <p:sp>
        <p:nvSpPr>
          <p:cNvPr id="302" name="Google Shape;302;p30"/>
          <p:cNvSpPr/>
          <p:nvPr/>
        </p:nvSpPr>
        <p:spPr>
          <a:xfrm>
            <a:off x="6183250" y="1395825"/>
            <a:ext cx="2664000" cy="883800"/>
          </a:xfrm>
          <a:prstGeom prst="roundRect">
            <a:avLst>
              <a:gd fmla="val 5439"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03" name="Google Shape;303;p30"/>
          <p:cNvSpPr/>
          <p:nvPr/>
        </p:nvSpPr>
        <p:spPr>
          <a:xfrm>
            <a:off x="6287654" y="1476233"/>
            <a:ext cx="1090800" cy="252600"/>
          </a:xfrm>
          <a:prstGeom prst="roundRect">
            <a:avLst>
              <a:gd fmla="val 22179" name="adj"/>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04" name="Google Shape;304;p30"/>
          <p:cNvSpPr txBox="1"/>
          <p:nvPr/>
        </p:nvSpPr>
        <p:spPr>
          <a:xfrm>
            <a:off x="6283030" y="1437392"/>
            <a:ext cx="1071900" cy="2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900">
                <a:solidFill>
                  <a:schemeClr val="lt1"/>
                </a:solidFill>
                <a:latin typeface="EB Garamond"/>
                <a:ea typeface="EB Garamond"/>
                <a:cs typeface="EB Garamond"/>
                <a:sym typeface="EB Garamond"/>
              </a:rPr>
              <a:t>WHAT HELPS</a:t>
            </a:r>
            <a:endParaRPr b="1" sz="900">
              <a:solidFill>
                <a:schemeClr val="lt1"/>
              </a:solidFill>
              <a:latin typeface="EB Garamond"/>
              <a:ea typeface="EB Garamond"/>
              <a:cs typeface="EB Garamond"/>
              <a:sym typeface="EB Garamond"/>
            </a:endParaRPr>
          </a:p>
        </p:txBody>
      </p:sp>
      <p:sp>
        <p:nvSpPr>
          <p:cNvPr id="305" name="Google Shape;305;p30"/>
          <p:cNvSpPr txBox="1"/>
          <p:nvPr/>
        </p:nvSpPr>
        <p:spPr>
          <a:xfrm>
            <a:off x="6220475" y="1691800"/>
            <a:ext cx="2578800" cy="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latin typeface="EB Garamond"/>
                <a:ea typeface="EB Garamond"/>
                <a:cs typeface="EB Garamond"/>
                <a:sym typeface="EB Garamond"/>
              </a:rPr>
              <a:t>Orientation q and electrical features carry most of the separability. </a:t>
            </a:r>
            <a:endParaRPr sz="1200">
              <a:latin typeface="EB Garamond"/>
              <a:ea typeface="EB Garamond"/>
              <a:cs typeface="EB Garamond"/>
              <a:sym typeface="EB Garamond"/>
            </a:endParaRPr>
          </a:p>
        </p:txBody>
      </p:sp>
      <p:sp>
        <p:nvSpPr>
          <p:cNvPr id="306" name="Google Shape;306;p30"/>
          <p:cNvSpPr/>
          <p:nvPr/>
        </p:nvSpPr>
        <p:spPr>
          <a:xfrm>
            <a:off x="6201875" y="2484125"/>
            <a:ext cx="2645400" cy="951300"/>
          </a:xfrm>
          <a:prstGeom prst="roundRect">
            <a:avLst>
              <a:gd fmla="val 5439"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07" name="Google Shape;307;p30"/>
          <p:cNvSpPr/>
          <p:nvPr/>
        </p:nvSpPr>
        <p:spPr>
          <a:xfrm>
            <a:off x="6282269" y="2540527"/>
            <a:ext cx="1090800" cy="252600"/>
          </a:xfrm>
          <a:prstGeom prst="roundRect">
            <a:avLst>
              <a:gd fmla="val 22179" name="adj"/>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08" name="Google Shape;308;p30"/>
          <p:cNvSpPr txBox="1"/>
          <p:nvPr/>
        </p:nvSpPr>
        <p:spPr>
          <a:xfrm>
            <a:off x="6275720" y="2501681"/>
            <a:ext cx="1071900" cy="2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900">
                <a:solidFill>
                  <a:schemeClr val="lt1"/>
                </a:solidFill>
                <a:latin typeface="EB Garamond"/>
                <a:ea typeface="EB Garamond"/>
                <a:cs typeface="EB Garamond"/>
                <a:sym typeface="EB Garamond"/>
              </a:rPr>
              <a:t>WHAT HURTS</a:t>
            </a:r>
            <a:endParaRPr b="1" sz="900">
              <a:solidFill>
                <a:schemeClr val="lt1"/>
              </a:solidFill>
              <a:latin typeface="EB Garamond"/>
              <a:ea typeface="EB Garamond"/>
              <a:cs typeface="EB Garamond"/>
              <a:sym typeface="EB Garamond"/>
            </a:endParaRPr>
          </a:p>
        </p:txBody>
      </p:sp>
      <p:sp>
        <p:nvSpPr>
          <p:cNvPr id="309" name="Google Shape;309;p30"/>
          <p:cNvSpPr txBox="1"/>
          <p:nvPr/>
        </p:nvSpPr>
        <p:spPr>
          <a:xfrm>
            <a:off x="6239073" y="2740100"/>
            <a:ext cx="2578800" cy="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latin typeface="EB Garamond"/>
                <a:ea typeface="EB Garamond"/>
                <a:cs typeface="EB Garamond"/>
                <a:sym typeface="EB Garamond"/>
              </a:rPr>
              <a:t>Several accelerometer channels are anti-informative: slow motion is often smoother and easier to reconstruct. </a:t>
            </a:r>
            <a:endParaRPr sz="1200">
              <a:latin typeface="EB Garamond"/>
              <a:ea typeface="EB Garamond"/>
              <a:cs typeface="EB Garamond"/>
              <a:sym typeface="EB Garamond"/>
            </a:endParaRPr>
          </a:p>
        </p:txBody>
      </p:sp>
      <p:sp>
        <p:nvSpPr>
          <p:cNvPr id="310" name="Google Shape;310;p30"/>
          <p:cNvSpPr/>
          <p:nvPr/>
        </p:nvSpPr>
        <p:spPr>
          <a:xfrm>
            <a:off x="6183250" y="3614575"/>
            <a:ext cx="2664000" cy="1032900"/>
          </a:xfrm>
          <a:prstGeom prst="roundRect">
            <a:avLst>
              <a:gd fmla="val 5439"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11" name="Google Shape;311;p30"/>
          <p:cNvSpPr/>
          <p:nvPr/>
        </p:nvSpPr>
        <p:spPr>
          <a:xfrm>
            <a:off x="6263631" y="3678976"/>
            <a:ext cx="1090800" cy="252600"/>
          </a:xfrm>
          <a:prstGeom prst="roundRect">
            <a:avLst>
              <a:gd fmla="val 22179" name="adj"/>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12" name="Google Shape;312;p30"/>
          <p:cNvSpPr txBox="1"/>
          <p:nvPr/>
        </p:nvSpPr>
        <p:spPr>
          <a:xfrm>
            <a:off x="6233085" y="3648130"/>
            <a:ext cx="1071900" cy="2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900">
                <a:solidFill>
                  <a:schemeClr val="lt1"/>
                </a:solidFill>
                <a:latin typeface="EB Garamond"/>
                <a:ea typeface="EB Garamond"/>
                <a:cs typeface="EB Garamond"/>
                <a:sym typeface="EB Garamond"/>
              </a:rPr>
              <a:t>AEE EFFECTS</a:t>
            </a:r>
            <a:endParaRPr b="1" sz="900">
              <a:solidFill>
                <a:schemeClr val="lt1"/>
              </a:solidFill>
              <a:latin typeface="EB Garamond"/>
              <a:ea typeface="EB Garamond"/>
              <a:cs typeface="EB Garamond"/>
              <a:sym typeface="EB Garamond"/>
            </a:endParaRPr>
          </a:p>
        </p:txBody>
      </p:sp>
      <p:sp>
        <p:nvSpPr>
          <p:cNvPr id="313" name="Google Shape;313;p30"/>
          <p:cNvSpPr txBox="1"/>
          <p:nvPr/>
        </p:nvSpPr>
        <p:spPr>
          <a:xfrm>
            <a:off x="6220450" y="3918525"/>
            <a:ext cx="2578800" cy="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latin typeface="EB Garamond"/>
                <a:ea typeface="EB Garamond"/>
                <a:cs typeface="EB Garamond"/>
                <a:sym typeface="EB Garamond"/>
              </a:rPr>
              <a:t>AAE improves q separation slightly, but degrades electrical, gyroscope and accelerometer families. </a:t>
            </a:r>
            <a:endParaRPr sz="1200">
              <a:latin typeface="EB Garamond"/>
              <a:ea typeface="EB Garamond"/>
              <a:cs typeface="EB Garamond"/>
              <a:sym typeface="EB 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31"/>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Per-action analysis</a:t>
            </a:r>
            <a:endParaRPr b="0" sz="2800">
              <a:solidFill>
                <a:srgbClr val="FFFFFF"/>
              </a:solidFill>
              <a:latin typeface="Merriweather"/>
              <a:ea typeface="Merriweather"/>
              <a:cs typeface="Merriweather"/>
              <a:sym typeface="Merriweather"/>
            </a:endParaRPr>
          </a:p>
        </p:txBody>
      </p:sp>
      <p:sp>
        <p:nvSpPr>
          <p:cNvPr id="320" name="Google Shape;320;p31"/>
          <p:cNvSpPr txBox="1"/>
          <p:nvPr>
            <p:ph idx="12" type="sldNum"/>
          </p:nvPr>
        </p:nvSpPr>
        <p:spPr>
          <a:xfrm>
            <a:off x="8556784" y="4701855"/>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21" name="Google Shape;321;p31" title="per-action-2.png"/>
          <p:cNvPicPr preferRelativeResize="0"/>
          <p:nvPr/>
        </p:nvPicPr>
        <p:blipFill>
          <a:blip r:embed="rId3">
            <a:alphaModFix/>
          </a:blip>
          <a:stretch>
            <a:fillRect/>
          </a:stretch>
        </p:blipFill>
        <p:spPr>
          <a:xfrm>
            <a:off x="199300" y="1161196"/>
            <a:ext cx="4506352" cy="2121425"/>
          </a:xfrm>
          <a:prstGeom prst="rect">
            <a:avLst/>
          </a:prstGeom>
          <a:noFill/>
          <a:ln>
            <a:noFill/>
          </a:ln>
        </p:spPr>
      </p:pic>
      <p:pic>
        <p:nvPicPr>
          <p:cNvPr id="322" name="Google Shape;322;p31" title="per-action.png"/>
          <p:cNvPicPr preferRelativeResize="0"/>
          <p:nvPr/>
        </p:nvPicPr>
        <p:blipFill>
          <a:blip r:embed="rId4">
            <a:alphaModFix/>
          </a:blip>
          <a:stretch>
            <a:fillRect/>
          </a:stretch>
        </p:blipFill>
        <p:spPr>
          <a:xfrm>
            <a:off x="416402" y="3283486"/>
            <a:ext cx="3813475" cy="1811963"/>
          </a:xfrm>
          <a:prstGeom prst="rect">
            <a:avLst/>
          </a:prstGeom>
          <a:noFill/>
          <a:ln>
            <a:noFill/>
          </a:ln>
        </p:spPr>
      </p:pic>
      <p:sp>
        <p:nvSpPr>
          <p:cNvPr id="323" name="Google Shape;323;p31"/>
          <p:cNvSpPr txBox="1"/>
          <p:nvPr/>
        </p:nvSpPr>
        <p:spPr>
          <a:xfrm>
            <a:off x="4949400" y="2027000"/>
            <a:ext cx="3813600" cy="2245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EB Garamond"/>
              <a:buChar char="●"/>
            </a:pPr>
            <a:r>
              <a:rPr lang="it" sz="1300">
                <a:solidFill>
                  <a:schemeClr val="dk2"/>
                </a:solidFill>
                <a:latin typeface="EB Garamond"/>
                <a:ea typeface="EB Garamond"/>
                <a:cs typeface="EB Garamond"/>
                <a:sym typeface="EB Garamond"/>
              </a:rPr>
              <a:t>Some actions are almost perfectly detected; others, like action 7, are very weakly separated.</a:t>
            </a:r>
            <a:endParaRPr sz="1300">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300">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300">
              <a:solidFill>
                <a:schemeClr val="dk2"/>
              </a:solidFill>
              <a:latin typeface="EB Garamond"/>
              <a:ea typeface="EB Garamond"/>
              <a:cs typeface="EB Garamond"/>
              <a:sym typeface="EB Garamond"/>
            </a:endParaRPr>
          </a:p>
          <a:p>
            <a:pPr indent="-311150" lvl="0" marL="457200" rtl="0" algn="l">
              <a:spcBef>
                <a:spcPts val="0"/>
              </a:spcBef>
              <a:spcAft>
                <a:spcPts val="0"/>
              </a:spcAft>
              <a:buClr>
                <a:schemeClr val="dk2"/>
              </a:buClr>
              <a:buSzPts val="1300"/>
              <a:buFont typeface="EB Garamond"/>
              <a:buChar char="●"/>
            </a:pPr>
            <a:r>
              <a:rPr lang="it" sz="1300">
                <a:solidFill>
                  <a:schemeClr val="dk2"/>
                </a:solidFill>
                <a:latin typeface="EB Garamond"/>
                <a:ea typeface="EB Garamond"/>
                <a:cs typeface="EB Garamond"/>
                <a:sym typeface="EB Garamond"/>
              </a:rPr>
              <a:t>A single threshold assumes that the same score has the same meaning for every action.</a:t>
            </a:r>
            <a:endParaRPr sz="1300">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300">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300">
              <a:solidFill>
                <a:schemeClr val="dk2"/>
              </a:solidFill>
              <a:latin typeface="EB Garamond"/>
              <a:ea typeface="EB Garamond"/>
              <a:cs typeface="EB Garamond"/>
              <a:sym typeface="EB Garamond"/>
            </a:endParaRPr>
          </a:p>
          <a:p>
            <a:pPr indent="-311150" lvl="0" marL="457200" rtl="0" algn="l">
              <a:spcBef>
                <a:spcPts val="0"/>
              </a:spcBef>
              <a:spcAft>
                <a:spcPts val="0"/>
              </a:spcAft>
              <a:buClr>
                <a:schemeClr val="dk2"/>
              </a:buClr>
              <a:buSzPts val="1300"/>
              <a:buFont typeface="EB Garamond"/>
              <a:buChar char="●"/>
            </a:pPr>
            <a:r>
              <a:rPr lang="it" sz="1300">
                <a:solidFill>
                  <a:schemeClr val="dk2"/>
                </a:solidFill>
                <a:latin typeface="EB Garamond"/>
                <a:ea typeface="EB Garamond"/>
                <a:cs typeface="EB Garamond"/>
                <a:sym typeface="EB Garamond"/>
              </a:rPr>
              <a:t>This motivates action-conditioned thresholds or action-conditioned latent priors. </a:t>
            </a:r>
            <a:endParaRPr sz="1300">
              <a:solidFill>
                <a:schemeClr val="dk2"/>
              </a:solidFill>
              <a:latin typeface="EB Garamond"/>
              <a:ea typeface="EB Garamond"/>
              <a:cs typeface="EB Garamond"/>
              <a:sym typeface="EB Garamo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2"/>
          <p:cNvSpPr/>
          <p:nvPr/>
        </p:nvSpPr>
        <p:spPr>
          <a:xfrm>
            <a:off x="0" y="0"/>
            <a:ext cx="9144000" cy="1079100"/>
          </a:xfrm>
          <a:prstGeom prst="rect">
            <a:avLst/>
          </a:prstGeom>
          <a:solidFill>
            <a:srgbClr val="252B3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32"/>
          <p:cNvSpPr txBox="1"/>
          <p:nvPr/>
        </p:nvSpPr>
        <p:spPr>
          <a:xfrm>
            <a:off x="381000" y="252876"/>
            <a:ext cx="8382000" cy="638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800">
                <a:solidFill>
                  <a:srgbClr val="FFFFFF"/>
                </a:solidFill>
                <a:latin typeface="Merriweather"/>
                <a:ea typeface="Merriweather"/>
                <a:cs typeface="Merriweather"/>
                <a:sym typeface="Merriweather"/>
              </a:rPr>
              <a:t>Discussion &amp; conclusions</a:t>
            </a:r>
            <a:endParaRPr b="0" sz="2800">
              <a:solidFill>
                <a:srgbClr val="FFFFFF"/>
              </a:solidFill>
              <a:latin typeface="Merriweather"/>
              <a:ea typeface="Merriweather"/>
              <a:cs typeface="Merriweather"/>
              <a:sym typeface="Merriweather"/>
            </a:endParaRPr>
          </a:p>
        </p:txBody>
      </p:sp>
      <p:sp>
        <p:nvSpPr>
          <p:cNvPr id="330" name="Google Shape;330;p32"/>
          <p:cNvSpPr txBox="1"/>
          <p:nvPr>
            <p:ph idx="12" type="sldNum"/>
          </p:nvPr>
        </p:nvSpPr>
        <p:spPr>
          <a:xfrm>
            <a:off x="8556784" y="4701855"/>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31" name="Google Shape;331;p32"/>
          <p:cNvSpPr/>
          <p:nvPr/>
        </p:nvSpPr>
        <p:spPr>
          <a:xfrm>
            <a:off x="352075" y="1269525"/>
            <a:ext cx="8545500" cy="497100"/>
          </a:xfrm>
          <a:prstGeom prst="roundRect">
            <a:avLst>
              <a:gd fmla="val 15863"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2" name="Google Shape;332;p32"/>
          <p:cNvSpPr/>
          <p:nvPr/>
        </p:nvSpPr>
        <p:spPr>
          <a:xfrm>
            <a:off x="457700" y="1391775"/>
            <a:ext cx="1066200" cy="252600"/>
          </a:xfrm>
          <a:prstGeom prst="roundRect">
            <a:avLst>
              <a:gd fmla="val 2217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3" name="Google Shape;333;p32"/>
          <p:cNvSpPr txBox="1"/>
          <p:nvPr/>
        </p:nvSpPr>
        <p:spPr>
          <a:xfrm>
            <a:off x="472038" y="1354607"/>
            <a:ext cx="1038300" cy="23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900">
                <a:solidFill>
                  <a:schemeClr val="lt1"/>
                </a:solidFill>
                <a:latin typeface="EB Garamond"/>
                <a:ea typeface="EB Garamond"/>
                <a:cs typeface="EB Garamond"/>
                <a:sym typeface="EB Garamond"/>
              </a:rPr>
              <a:t>TAKEAWAY</a:t>
            </a:r>
            <a:endParaRPr sz="900">
              <a:solidFill>
                <a:schemeClr val="lt1"/>
              </a:solidFill>
              <a:latin typeface="EB Garamond"/>
              <a:ea typeface="EB Garamond"/>
              <a:cs typeface="EB Garamond"/>
              <a:sym typeface="EB Garamond"/>
            </a:endParaRPr>
          </a:p>
        </p:txBody>
      </p:sp>
      <p:sp>
        <p:nvSpPr>
          <p:cNvPr id="334" name="Google Shape;334;p32"/>
          <p:cNvSpPr txBox="1"/>
          <p:nvPr/>
        </p:nvSpPr>
        <p:spPr>
          <a:xfrm>
            <a:off x="1658875" y="1323624"/>
            <a:ext cx="7208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latin typeface="EB Garamond"/>
                <a:ea typeface="EB Garamond"/>
                <a:cs typeface="EB Garamond"/>
                <a:sym typeface="EB Garamond"/>
              </a:rPr>
              <a:t>The AAE regularizes the latent space, but the most valuable gains come from a robust, physically aligned anomaly score. </a:t>
            </a:r>
            <a:endParaRPr sz="1200">
              <a:latin typeface="EB Garamond"/>
              <a:ea typeface="EB Garamond"/>
              <a:cs typeface="EB Garamond"/>
              <a:sym typeface="EB Garamond"/>
            </a:endParaRPr>
          </a:p>
        </p:txBody>
      </p:sp>
      <p:sp>
        <p:nvSpPr>
          <p:cNvPr id="335" name="Google Shape;335;p32"/>
          <p:cNvSpPr/>
          <p:nvPr/>
        </p:nvSpPr>
        <p:spPr>
          <a:xfrm>
            <a:off x="352075" y="2039925"/>
            <a:ext cx="3942300" cy="2556300"/>
          </a:xfrm>
          <a:prstGeom prst="roundRect">
            <a:avLst>
              <a:gd fmla="val 9285"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6" name="Google Shape;336;p32"/>
          <p:cNvSpPr/>
          <p:nvPr/>
        </p:nvSpPr>
        <p:spPr>
          <a:xfrm>
            <a:off x="4572000" y="2039925"/>
            <a:ext cx="4325400" cy="2556300"/>
          </a:xfrm>
          <a:prstGeom prst="roundRect">
            <a:avLst>
              <a:gd fmla="val 9285"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337" name="Google Shape;337;p32"/>
          <p:cNvSpPr/>
          <p:nvPr/>
        </p:nvSpPr>
        <p:spPr>
          <a:xfrm>
            <a:off x="507225" y="2154267"/>
            <a:ext cx="1066200" cy="252900"/>
          </a:xfrm>
          <a:prstGeom prst="roundRect">
            <a:avLst>
              <a:gd fmla="val 22179" name="adj"/>
            </a:avLst>
          </a:prstGeom>
          <a:solidFill>
            <a:schemeClr val="accent1"/>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1400">
              <a:solidFill>
                <a:schemeClr val="lt1"/>
              </a:solidFill>
              <a:latin typeface="Roboto"/>
              <a:ea typeface="Roboto"/>
              <a:cs typeface="Roboto"/>
              <a:sym typeface="Roboto"/>
            </a:endParaRPr>
          </a:p>
        </p:txBody>
      </p:sp>
      <p:sp>
        <p:nvSpPr>
          <p:cNvPr id="338" name="Google Shape;338;p32"/>
          <p:cNvSpPr txBox="1"/>
          <p:nvPr/>
        </p:nvSpPr>
        <p:spPr>
          <a:xfrm>
            <a:off x="521563" y="2117100"/>
            <a:ext cx="1038300" cy="234900"/>
          </a:xfrm>
          <a:prstGeom prst="rect">
            <a:avLst/>
          </a:prstGeom>
          <a:noFill/>
          <a:ln>
            <a:noFill/>
          </a:ln>
        </p:spPr>
        <p:txBody>
          <a:bodyPr anchorCtr="0" anchor="t" bIns="91400" lIns="91400" spcFirstLastPara="1" rIns="91400" wrap="square" tIns="91400">
            <a:noAutofit/>
          </a:bodyPr>
          <a:lstStyle/>
          <a:p>
            <a:pPr indent="0" lvl="0" marL="0" rtl="0" algn="ctr">
              <a:spcBef>
                <a:spcPts val="0"/>
              </a:spcBef>
              <a:spcAft>
                <a:spcPts val="0"/>
              </a:spcAft>
              <a:buNone/>
            </a:pPr>
            <a:r>
              <a:rPr lang="it" sz="900">
                <a:solidFill>
                  <a:schemeClr val="lt1"/>
                </a:solidFill>
                <a:latin typeface="EB Garamond"/>
                <a:ea typeface="EB Garamond"/>
                <a:cs typeface="EB Garamond"/>
                <a:sym typeface="EB Garamond"/>
              </a:rPr>
              <a:t>DISCUSSION</a:t>
            </a:r>
            <a:endParaRPr sz="900">
              <a:solidFill>
                <a:schemeClr val="lt1"/>
              </a:solidFill>
              <a:latin typeface="EB Garamond"/>
              <a:ea typeface="EB Garamond"/>
              <a:cs typeface="EB Garamond"/>
              <a:sym typeface="EB Garamond"/>
            </a:endParaRPr>
          </a:p>
        </p:txBody>
      </p:sp>
      <p:sp>
        <p:nvSpPr>
          <p:cNvPr id="339" name="Google Shape;339;p32"/>
          <p:cNvSpPr/>
          <p:nvPr/>
        </p:nvSpPr>
        <p:spPr>
          <a:xfrm>
            <a:off x="4730125" y="2182342"/>
            <a:ext cx="1066200" cy="252900"/>
          </a:xfrm>
          <a:prstGeom prst="roundRect">
            <a:avLst>
              <a:gd fmla="val 22179" name="adj"/>
            </a:avLst>
          </a:prstGeom>
          <a:solidFill>
            <a:srgbClr val="38761D"/>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1400">
              <a:solidFill>
                <a:schemeClr val="lt1"/>
              </a:solidFill>
              <a:latin typeface="Roboto"/>
              <a:ea typeface="Roboto"/>
              <a:cs typeface="Roboto"/>
              <a:sym typeface="Roboto"/>
            </a:endParaRPr>
          </a:p>
        </p:txBody>
      </p:sp>
      <p:sp>
        <p:nvSpPr>
          <p:cNvPr id="340" name="Google Shape;340;p32"/>
          <p:cNvSpPr txBox="1"/>
          <p:nvPr/>
        </p:nvSpPr>
        <p:spPr>
          <a:xfrm>
            <a:off x="4744463" y="2145175"/>
            <a:ext cx="1038300" cy="234900"/>
          </a:xfrm>
          <a:prstGeom prst="rect">
            <a:avLst/>
          </a:prstGeom>
          <a:noFill/>
          <a:ln>
            <a:noFill/>
          </a:ln>
        </p:spPr>
        <p:txBody>
          <a:bodyPr anchorCtr="0" anchor="t" bIns="91400" lIns="91400" spcFirstLastPara="1" rIns="91400" wrap="square" tIns="91400">
            <a:noAutofit/>
          </a:bodyPr>
          <a:lstStyle/>
          <a:p>
            <a:pPr indent="0" lvl="0" marL="0" rtl="0" algn="ctr">
              <a:spcBef>
                <a:spcPts val="0"/>
              </a:spcBef>
              <a:spcAft>
                <a:spcPts val="0"/>
              </a:spcAft>
              <a:buNone/>
            </a:pPr>
            <a:r>
              <a:rPr lang="it" sz="900">
                <a:solidFill>
                  <a:schemeClr val="lt1"/>
                </a:solidFill>
                <a:latin typeface="EB Garamond"/>
                <a:ea typeface="EB Garamond"/>
                <a:cs typeface="EB Garamond"/>
                <a:sym typeface="EB Garamond"/>
              </a:rPr>
              <a:t>FUTURE WORK</a:t>
            </a:r>
            <a:endParaRPr sz="900">
              <a:solidFill>
                <a:schemeClr val="lt1"/>
              </a:solidFill>
              <a:latin typeface="EB Garamond"/>
              <a:ea typeface="EB Garamond"/>
              <a:cs typeface="EB Garamond"/>
              <a:sym typeface="EB Garamond"/>
            </a:endParaRPr>
          </a:p>
        </p:txBody>
      </p:sp>
      <p:sp>
        <p:nvSpPr>
          <p:cNvPr id="341" name="Google Shape;341;p32"/>
          <p:cNvSpPr txBox="1"/>
          <p:nvPr/>
        </p:nvSpPr>
        <p:spPr>
          <a:xfrm>
            <a:off x="232775" y="2516975"/>
            <a:ext cx="4061700" cy="21285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Optimization works, task signal does not:</a:t>
            </a:r>
            <a:r>
              <a:rPr lang="it" sz="1100">
                <a:latin typeface="EB Garamond"/>
                <a:ea typeface="EB Garamond"/>
                <a:cs typeface="EB Garamond"/>
                <a:sym typeface="EB Garamond"/>
              </a:rPr>
              <a:t> warm-up makes the latent distribution closer to the Gaussian prior, but PR-AUC does not improve.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Normality is multimodal: </a:t>
            </a:r>
            <a:r>
              <a:rPr lang="it" sz="1100">
                <a:latin typeface="EB Garamond"/>
                <a:ea typeface="EB Garamond"/>
                <a:cs typeface="EB Garamond"/>
                <a:sym typeface="EB Garamond"/>
              </a:rPr>
              <a:t>actions and sensor families have different score distributions; a single isotropic prior can compress useful structure.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Score design dominates: </a:t>
            </a:r>
            <a:r>
              <a:rPr lang="it" sz="1100">
                <a:latin typeface="EB Garamond"/>
                <a:ea typeface="EB Garamond"/>
                <a:cs typeface="EB Garamond"/>
                <a:sym typeface="EB Garamond"/>
              </a:rPr>
              <a:t>Smooth L1 removes many false alarms while preserving most detections; robustness matters more than latent matching. </a:t>
            </a:r>
            <a:endParaRPr sz="1100">
              <a:latin typeface="EB Garamond"/>
              <a:ea typeface="EB Garamond"/>
              <a:cs typeface="EB Garamond"/>
              <a:sym typeface="EB Garamond"/>
            </a:endParaRPr>
          </a:p>
          <a:p>
            <a:pPr indent="0" lvl="0" marL="0" rtl="0" algn="l">
              <a:spcBef>
                <a:spcPts val="0"/>
              </a:spcBef>
              <a:spcAft>
                <a:spcPts val="0"/>
              </a:spcAft>
              <a:buNone/>
            </a:pPr>
            <a:r>
              <a:t/>
            </a:r>
            <a:endParaRPr sz="1100">
              <a:latin typeface="EB Garamond"/>
              <a:ea typeface="EB Garamond"/>
              <a:cs typeface="EB Garamond"/>
              <a:sym typeface="EB Garamond"/>
            </a:endParaRPr>
          </a:p>
          <a:p>
            <a:pPr indent="0" lvl="0" marL="0" rtl="0" algn="l">
              <a:spcBef>
                <a:spcPts val="0"/>
              </a:spcBef>
              <a:spcAft>
                <a:spcPts val="0"/>
              </a:spcAft>
              <a:buNone/>
            </a:pPr>
            <a:r>
              <a:t/>
            </a:r>
            <a:endParaRPr sz="1100">
              <a:latin typeface="EB Garamond"/>
              <a:ea typeface="EB Garamond"/>
              <a:cs typeface="EB Garamond"/>
              <a:sym typeface="EB Garamond"/>
            </a:endParaRPr>
          </a:p>
        </p:txBody>
      </p:sp>
      <p:sp>
        <p:nvSpPr>
          <p:cNvPr id="342" name="Google Shape;342;p32"/>
          <p:cNvSpPr txBox="1"/>
          <p:nvPr/>
        </p:nvSpPr>
        <p:spPr>
          <a:xfrm>
            <a:off x="4488058" y="2543069"/>
            <a:ext cx="4061700" cy="21285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Action-conditioned thresholds / priors: </a:t>
            </a:r>
            <a:r>
              <a:rPr lang="it" sz="1100">
                <a:latin typeface="EB Garamond"/>
                <a:ea typeface="EB Garamond"/>
                <a:cs typeface="EB Garamond"/>
                <a:sym typeface="EB Garamond"/>
              </a:rPr>
              <a:t>calibrate false alarms per operating mode.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Feature-family weighted score: </a:t>
            </a:r>
            <a:r>
              <a:rPr lang="it" sz="1100">
                <a:latin typeface="EB Garamond"/>
                <a:ea typeface="EB Garamond"/>
                <a:cs typeface="EB Garamond"/>
                <a:sym typeface="EB Garamond"/>
              </a:rPr>
              <a:t>exploit q/electrical signal, clean weak temperature channels.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0" lvl="0" marL="457200" rtl="0" algn="l">
              <a:spcBef>
                <a:spcPts val="0"/>
              </a:spcBef>
              <a:spcAft>
                <a:spcPts val="0"/>
              </a:spcAft>
              <a:buNone/>
            </a:pPr>
            <a:r>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Char char="●"/>
            </a:pPr>
            <a:r>
              <a:rPr b="1" lang="it" sz="1100">
                <a:latin typeface="EB Garamond"/>
                <a:ea typeface="EB Garamond"/>
                <a:cs typeface="EB Garamond"/>
                <a:sym typeface="EB Garamond"/>
              </a:rPr>
              <a:t>Hybrid detector: </a:t>
            </a:r>
            <a:r>
              <a:rPr lang="it" sz="1100">
                <a:latin typeface="EB Garamond"/>
                <a:ea typeface="EB Garamond"/>
                <a:cs typeface="EB Garamond"/>
                <a:sym typeface="EB Garamond"/>
              </a:rPr>
              <a:t>combine reconstruction error with statistical regime features. </a:t>
            </a:r>
            <a:endParaRPr sz="1100">
              <a:latin typeface="EB Garamond"/>
              <a:ea typeface="EB Garamond"/>
              <a:cs typeface="EB Garamond"/>
              <a:sym typeface="EB 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txBox="1"/>
          <p:nvPr>
            <p:ph type="title"/>
          </p:nvPr>
        </p:nvSpPr>
        <p:spPr>
          <a:xfrm>
            <a:off x="301500" y="1509200"/>
            <a:ext cx="8541000" cy="1244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it" sz="5000"/>
              <a:t>Thank you for your attention!</a:t>
            </a:r>
            <a:endParaRPr sz="5000"/>
          </a:p>
        </p:txBody>
      </p:sp>
      <p:sp>
        <p:nvSpPr>
          <p:cNvPr id="348" name="Google Shape;34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